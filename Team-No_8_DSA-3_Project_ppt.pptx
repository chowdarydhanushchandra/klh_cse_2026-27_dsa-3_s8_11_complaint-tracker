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5" dt="2026-08-20T07:10:53.558"/>
    <p1510:client id="{0C65EED4-32E6-9F61-C32F-6F0B9E361499}" v="208" dt="2026-08-20T08:21:58.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Complaints</c:v>
                </c:pt>
              </c:strCache>
            </c:strRef>
          </c:tx>
          <c:spPr>
            <a:solidFill>
              <a:srgbClr val="1F3A5F"/>
            </a:solidFill>
            <a:effectLst/>
          </c:spPr>
          <c:invertIfNegative val="0"/>
          <c:dLbls>
            <c:numFmt formatCode="#,##0" sourceLinked="0"/>
            <c:spPr>
              <a:noFill/>
              <a:ln>
                <a:noFill/>
              </a:ln>
              <a:effectLst/>
            </c:spPr>
            <c:txPr>
              <a:bodyPr/>
              <a:lstStyle/>
              <a:p>
                <a:pPr>
                  <a:defRPr sz="10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Billing</c:v>
                </c:pt>
                <c:pt idx="1">
                  <c:v>Product</c:v>
                </c:pt>
                <c:pt idx="2">
                  <c:v>Delivery</c:v>
                </c:pt>
                <c:pt idx="3">
                  <c:v>Support</c:v>
                </c:pt>
                <c:pt idx="4">
                  <c:v>Other</c:v>
                </c:pt>
              </c:strCache>
            </c:strRef>
          </c:cat>
          <c:val>
            <c:numRef>
              <c:f>Sheet1!$B$2:$B$6</c:f>
              <c:numCache>
                <c:formatCode>General</c:formatCode>
                <c:ptCount val="5"/>
                <c:pt idx="0">
                  <c:v>46</c:v>
                </c:pt>
                <c:pt idx="1">
                  <c:v>33</c:v>
                </c:pt>
                <c:pt idx="2">
                  <c:v>28</c:v>
                </c:pt>
                <c:pt idx="3">
                  <c:v>21</c:v>
                </c:pt>
                <c:pt idx="4">
                  <c:v>14</c:v>
                </c:pt>
              </c:numCache>
            </c:numRef>
          </c:val>
          <c:extLst>
            <c:ext xmlns:c16="http://schemas.microsoft.com/office/drawing/2014/chart" uri="{C3380CC4-5D6E-409C-BE32-E72D297353CC}">
              <c16:uniqueId val="{00000000-E5D8-43C9-8EA1-01E07B90C4EE}"/>
            </c:ext>
          </c:extLst>
        </c:ser>
        <c:dLbls>
          <c:dLblPos val="inEnd"/>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2E7D6B"/>
              </a:solidFill>
              <a:effectLst/>
            </c:spPr>
            <c:extLst>
              <c:ext xmlns:c16="http://schemas.microsoft.com/office/drawing/2014/chart" uri="{C3380CC4-5D6E-409C-BE32-E72D297353CC}">
                <c16:uniqueId val="{00000001-840F-4F68-ABA5-1034DE3981A6}"/>
              </c:ext>
            </c:extLst>
          </c:dPt>
          <c:dPt>
            <c:idx val="1"/>
            <c:bubble3D val="0"/>
            <c:spPr>
              <a:solidFill>
                <a:srgbClr val="3E6FA8"/>
              </a:solidFill>
              <a:effectLst/>
            </c:spPr>
            <c:extLst>
              <c:ext xmlns:c16="http://schemas.microsoft.com/office/drawing/2014/chart" uri="{C3380CC4-5D6E-409C-BE32-E72D297353CC}">
                <c16:uniqueId val="{00000003-840F-4F68-ABA5-1034DE3981A6}"/>
              </c:ext>
            </c:extLst>
          </c:dPt>
          <c:dPt>
            <c:idx val="2"/>
            <c:bubble3D val="0"/>
            <c:spPr>
              <a:solidFill>
                <a:srgbClr val="C24E3D"/>
              </a:solidFill>
              <a:effectLst/>
            </c:spPr>
            <c:extLst>
              <c:ext xmlns:c16="http://schemas.microsoft.com/office/drawing/2014/chart" uri="{C3380CC4-5D6E-409C-BE32-E72D297353CC}">
                <c16:uniqueId val="{00000005-840F-4F68-ABA5-1034DE3981A6}"/>
              </c:ext>
            </c:extLst>
          </c:dPt>
          <c:dLbls>
            <c:dLbl>
              <c:idx val="0"/>
              <c:numFmt formatCode="General"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40F-4F68-ABA5-1034DE3981A6}"/>
                </c:ext>
              </c:extLst>
            </c:dLbl>
            <c:dLbl>
              <c:idx val="1"/>
              <c:numFmt formatCode="General"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40F-4F68-ABA5-1034DE3981A6}"/>
                </c:ext>
              </c:extLst>
            </c:dLbl>
            <c:dLbl>
              <c:idx val="2"/>
              <c:numFmt formatCode="General"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40F-4F68-ABA5-1034DE3981A6}"/>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Resolved</c:v>
                </c:pt>
                <c:pt idx="1">
                  <c:v>In Progress</c:v>
                </c:pt>
                <c:pt idx="2">
                  <c:v>Open</c:v>
                </c:pt>
              </c:strCache>
            </c:strRef>
          </c:cat>
          <c:val>
            <c:numRef>
              <c:f>Sheet1!$B$2:$B$4</c:f>
              <c:numCache>
                <c:formatCode>General</c:formatCode>
                <c:ptCount val="3"/>
                <c:pt idx="0">
                  <c:v>104</c:v>
                </c:pt>
                <c:pt idx="1">
                  <c:v>26</c:v>
                </c:pt>
                <c:pt idx="2">
                  <c:v>12</c:v>
                </c:pt>
              </c:numCache>
            </c:numRef>
          </c:val>
          <c:extLst>
            <c:ext xmlns:c16="http://schemas.microsoft.com/office/drawing/2014/chart" uri="{C3380CC4-5D6E-409C-BE32-E72D297353CC}">
              <c16:uniqueId val="{00000006-840F-4F68-ABA5-1034DE3981A6}"/>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r"/>
      <c:overlay val="0"/>
      <c:txPr>
        <a:bodyPr/>
        <a:lstStyle/>
        <a:p>
          <a:pPr>
            <a:defRPr sz="1000">
              <a:solidFill>
                <a:srgbClr val="5C6B7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482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20.png"/><Relationship Id="rId7"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Shape 0"/>
          <p:cNvSpPr/>
          <p:nvPr/>
        </p:nvSpPr>
        <p:spPr>
          <a:xfrm>
            <a:off x="6096000" y="274320"/>
            <a:ext cx="6400800" cy="6400800"/>
          </a:xfrm>
          <a:prstGeom prst="ellipse">
            <a:avLst/>
          </a:prstGeom>
          <a:solidFill>
            <a:srgbClr val="16283F"/>
          </a:solidFill>
          <a:ln/>
        </p:spPr>
      </p:sp>
      <p:sp>
        <p:nvSpPr>
          <p:cNvPr id="3" name="Shape 1"/>
          <p:cNvSpPr/>
          <p:nvPr/>
        </p:nvSpPr>
        <p:spPr>
          <a:xfrm>
            <a:off x="7650480" y="1717040"/>
            <a:ext cx="3291840" cy="3291840"/>
          </a:xfrm>
          <a:prstGeom prst="ellipse">
            <a:avLst/>
          </a:prstGeom>
          <a:solidFill>
            <a:srgbClr val="294B76"/>
          </a:solidFill>
          <a:ln/>
        </p:spPr>
      </p:sp>
      <p:sp>
        <p:nvSpPr>
          <p:cNvPr id="5" name="Text 2"/>
          <p:cNvSpPr/>
          <p:nvPr/>
        </p:nvSpPr>
        <p:spPr>
          <a:xfrm>
            <a:off x="137160" y="1254760"/>
            <a:ext cx="7498080" cy="1198880"/>
          </a:xfrm>
          <a:prstGeom prst="rect">
            <a:avLst/>
          </a:prstGeom>
          <a:noFill/>
          <a:ln/>
        </p:spPr>
        <p:txBody>
          <a:bodyPr wrap="square" rtlCol="0" anchor="ctr"/>
          <a:lstStyle/>
          <a:p>
            <a:pPr marL="0" indent="0">
              <a:buNone/>
            </a:pPr>
            <a:r>
              <a:rPr lang="en-US" sz="4400" b="1" kern="0" spc="100">
                <a:solidFill>
                  <a:srgbClr val="FFFFFF"/>
                </a:solidFill>
                <a:latin typeface="Georgia" pitchFamily="34" charset="0"/>
                <a:ea typeface="Georgia" pitchFamily="34" charset="-122"/>
                <a:cs typeface="Georgia" pitchFamily="34" charset="-120"/>
              </a:rPr>
              <a:t>COMPLAINT TRACKER</a:t>
            </a:r>
            <a:endParaRPr lang="en-US" sz="4400"/>
          </a:p>
        </p:txBody>
      </p:sp>
      <p:sp>
        <p:nvSpPr>
          <p:cNvPr id="6" name="Text 3"/>
          <p:cNvSpPr/>
          <p:nvPr/>
        </p:nvSpPr>
        <p:spPr>
          <a:xfrm>
            <a:off x="345440" y="2443480"/>
            <a:ext cx="7863840" cy="731520"/>
          </a:xfrm>
          <a:prstGeom prst="rect">
            <a:avLst/>
          </a:prstGeom>
          <a:noFill/>
          <a:ln/>
        </p:spPr>
        <p:txBody>
          <a:bodyPr wrap="square" rtlCol="0" anchor="ctr"/>
          <a:lstStyle/>
          <a:p>
            <a:pPr marL="0" indent="0">
              <a:buNone/>
            </a:pPr>
            <a:r>
              <a:rPr lang="en-US" sz="1700" i="1">
                <a:solidFill>
                  <a:srgbClr val="C9D6E3"/>
                </a:solidFill>
                <a:latin typeface="Georgia" pitchFamily="34" charset="0"/>
                <a:ea typeface="Georgia" pitchFamily="34" charset="-122"/>
                <a:cs typeface="Georgia" pitchFamily="34" charset="-120"/>
              </a:rPr>
              <a:t>A centralized, automated system for registering, tracking, and resolving customer complaints.</a:t>
            </a:r>
            <a:endParaRPr lang="en-US" sz="1700"/>
          </a:p>
        </p:txBody>
      </p:sp>
      <p:sp>
        <p:nvSpPr>
          <p:cNvPr id="7" name="Shape 4"/>
          <p:cNvSpPr/>
          <p:nvPr/>
        </p:nvSpPr>
        <p:spPr>
          <a:xfrm>
            <a:off x="822960" y="3479800"/>
            <a:ext cx="1280160" cy="0"/>
          </a:xfrm>
          <a:prstGeom prst="line">
            <a:avLst/>
          </a:prstGeom>
          <a:noFill/>
          <a:ln w="38100">
            <a:solidFill>
              <a:srgbClr val="E8734A"/>
            </a:solidFill>
            <a:prstDash val="solid"/>
          </a:ln>
        </p:spPr>
      </p:sp>
      <p:sp>
        <p:nvSpPr>
          <p:cNvPr id="9" name="Text 6"/>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10" name="Text 7"/>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1</a:t>
            </a:r>
            <a:endParaRPr lang="en-US" sz="900"/>
          </a:p>
        </p:txBody>
      </p:sp>
      <p:sp>
        <p:nvSpPr>
          <p:cNvPr id="11" name="TextBox 10">
            <a:extLst>
              <a:ext uri="{FF2B5EF4-FFF2-40B4-BE49-F238E27FC236}">
                <a16:creationId xmlns:a16="http://schemas.microsoft.com/office/drawing/2014/main" id="{008BD6B9-C0EC-2806-DEB8-E4F899AEA964}"/>
              </a:ext>
            </a:extLst>
          </p:cNvPr>
          <p:cNvSpPr txBox="1"/>
          <p:nvPr/>
        </p:nvSpPr>
        <p:spPr>
          <a:xfrm>
            <a:off x="658340" y="3742122"/>
            <a:ext cx="572666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Course:DSA-3</a:t>
            </a:r>
          </a:p>
          <a:p>
            <a:r>
              <a:rPr lang="en-US">
                <a:ea typeface="Calibri"/>
                <a:cs typeface="Calibri"/>
              </a:rPr>
              <a:t>Course code:</a:t>
            </a:r>
            <a:r>
              <a:rPr lang="en-US" b="1">
                <a:solidFill>
                  <a:schemeClr val="tx1">
                    <a:lumMod val="95000"/>
                    <a:lumOff val="5000"/>
                  </a:schemeClr>
                </a:solidFill>
              </a:rPr>
              <a:t>25CS2103E</a:t>
            </a:r>
            <a:endParaRPr lang="en-US" dirty="0">
              <a:solidFill>
                <a:schemeClr val="tx1">
                  <a:lumMod val="95000"/>
                  <a:lumOff val="5000"/>
                </a:schemeClr>
              </a:solidFill>
              <a:ea typeface="Calibri"/>
              <a:cs typeface="Calibri"/>
            </a:endParaRPr>
          </a:p>
          <a:p>
            <a:r>
              <a:rPr lang="en-US">
                <a:ea typeface="Calibri"/>
                <a:cs typeface="Calibri"/>
              </a:rPr>
              <a:t>Team Number:8</a:t>
            </a:r>
            <a:endParaRPr lang="en-US" dirty="0">
              <a:ea typeface="Calibri"/>
              <a:cs typeface="Calibri"/>
            </a:endParaRPr>
          </a:p>
          <a:p>
            <a:endParaRPr lang="en-US" dirty="0">
              <a:ea typeface="Calibri"/>
              <a:cs typeface="Calibri"/>
            </a:endParaRPr>
          </a:p>
          <a:p>
            <a:endParaRPr lang="en-US" dirty="0">
              <a:ea typeface="Calibri"/>
              <a:cs typeface="Calibri"/>
            </a:endParaRPr>
          </a:p>
        </p:txBody>
      </p:sp>
      <p:pic>
        <p:nvPicPr>
          <p:cNvPr id="13" name="Picture 12">
            <a:extLst>
              <a:ext uri="{FF2B5EF4-FFF2-40B4-BE49-F238E27FC236}">
                <a16:creationId xmlns:a16="http://schemas.microsoft.com/office/drawing/2014/main" id="{35E773A8-F07F-0259-DF4C-9032FB631D37}"/>
              </a:ext>
            </a:extLst>
          </p:cNvPr>
          <p:cNvPicPr>
            <a:picLocks noChangeAspect="1"/>
          </p:cNvPicPr>
          <p:nvPr/>
        </p:nvPicPr>
        <p:blipFill>
          <a:blip r:embed="rId3"/>
          <a:stretch>
            <a:fillRect/>
          </a:stretch>
        </p:blipFill>
        <p:spPr>
          <a:xfrm>
            <a:off x="343853" y="274955"/>
            <a:ext cx="2238375" cy="781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ABSTRACT</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Why this project exists</a:t>
            </a:r>
            <a:endParaRPr lang="en-US" sz="2700"/>
          </a:p>
        </p:txBody>
      </p:sp>
      <p:sp>
        <p:nvSpPr>
          <p:cNvPr id="4" name="Shape 2"/>
          <p:cNvSpPr/>
          <p:nvPr/>
        </p:nvSpPr>
        <p:spPr>
          <a:xfrm>
            <a:off x="640080" y="1535945"/>
            <a:ext cx="10881360" cy="4160520"/>
          </a:xfrm>
          <a:prstGeom prst="roundRect">
            <a:avLst>
              <a:gd name="adj" fmla="val 1978"/>
            </a:avLst>
          </a:prstGeom>
          <a:solidFill>
            <a:srgbClr val="F4F6F8"/>
          </a:solidFill>
          <a:ln/>
        </p:spPr>
      </p:sp>
      <p:sp>
        <p:nvSpPr>
          <p:cNvPr id="5" name="Shape 3"/>
          <p:cNvSpPr/>
          <p:nvPr/>
        </p:nvSpPr>
        <p:spPr>
          <a:xfrm>
            <a:off x="567999" y="1515350"/>
            <a:ext cx="73152" cy="4160520"/>
          </a:xfrm>
          <a:prstGeom prst="rect">
            <a:avLst/>
          </a:prstGeom>
          <a:solidFill>
            <a:srgbClr val="E8734A"/>
          </a:solidFill>
          <a:ln/>
        </p:spPr>
      </p:sp>
      <p:sp>
        <p:nvSpPr>
          <p:cNvPr id="6" name="Text 4"/>
          <p:cNvSpPr/>
          <p:nvPr/>
        </p:nvSpPr>
        <p:spPr>
          <a:xfrm>
            <a:off x="841083" y="1804498"/>
            <a:ext cx="10149840" cy="3566160"/>
          </a:xfrm>
          <a:prstGeom prst="rect">
            <a:avLst/>
          </a:prstGeom>
          <a:noFill/>
          <a:ln/>
        </p:spPr>
        <p:txBody>
          <a:bodyPr wrap="square" lIns="91440" tIns="45720" rIns="91440" bIns="45720" rtlCol="0" anchor="t"/>
          <a:lstStyle/>
          <a:p>
            <a:pPr marL="0" indent="0">
              <a:lnSpc>
                <a:spcPct val="130000"/>
              </a:lnSpc>
              <a:buNone/>
            </a:pPr>
            <a:r>
              <a:rPr lang="en-US" dirty="0">
                <a:solidFill>
                  <a:srgbClr val="1E2A38"/>
                </a:solidFill>
              </a:rPr>
              <a:t>Organizations receive a large number of customer complaints every day, making manual management, tracking, and resolution difficult. Delayed responses, misplaced records, and poor tracking directly hurt customer satisfaction and service quality.
</a:t>
            </a:r>
            <a:endParaRPr lang="en-US">
              <a:ea typeface="Calibri"/>
              <a:cs typeface="Calibri"/>
            </a:endParaRPr>
          </a:p>
          <a:p>
            <a:pPr marL="0" indent="0">
              <a:lnSpc>
                <a:spcPct val="130000"/>
              </a:lnSpc>
              <a:buNone/>
            </a:pPr>
            <a:r>
              <a:rPr lang="en-US">
                <a:solidFill>
                  <a:srgbClr val="1E2A38"/>
                </a:solidFill>
              </a:rPr>
              <a:t>Complaint Tracker replaces that manual process with a </a:t>
            </a:r>
            <a:r>
              <a:rPr lang="en-US" b="1">
                <a:solidFill>
                  <a:srgbClr val="1E2A38"/>
                </a:solidFill>
              </a:rPr>
              <a:t>centralized, automated system</a:t>
            </a:r>
            <a:r>
              <a:rPr lang="en-US">
                <a:solidFill>
                  <a:srgbClr val="1E2A38"/>
                </a:solidFill>
              </a:rPr>
              <a:t> where customers register and monitor complaints, and administrators categorize, assign, update, and resolve them through one easy-to-use interface — each complaint held securely against a unique tracking ID.</a:t>
            </a:r>
            <a:endParaRPr lang="en-US">
              <a:ea typeface="Calibri"/>
              <a:cs typeface="Calibri"/>
            </a:endParaRPr>
          </a:p>
        </p:txBody>
      </p:sp>
      <p:sp>
        <p:nvSpPr>
          <p:cNvPr id="7" name="Text 5"/>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8" name="Text 6"/>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THE PROBLEM</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Manual complaint handling doesn't scale</a:t>
            </a:r>
            <a:endParaRPr lang="en-US" sz="2700"/>
          </a:p>
        </p:txBody>
      </p:sp>
      <p:sp>
        <p:nvSpPr>
          <p:cNvPr id="4" name="Shape 2"/>
          <p:cNvSpPr/>
          <p:nvPr/>
        </p:nvSpPr>
        <p:spPr>
          <a:xfrm>
            <a:off x="640080" y="1874520"/>
            <a:ext cx="2634707"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5" name="Shape 3"/>
          <p:cNvSpPr/>
          <p:nvPr/>
        </p:nvSpPr>
        <p:spPr>
          <a:xfrm>
            <a:off x="1527048" y="2185416"/>
            <a:ext cx="768096" cy="768096"/>
          </a:xfrm>
          <a:prstGeom prst="ellipse">
            <a:avLst/>
          </a:prstGeom>
          <a:solidFill>
            <a:srgbClr val="1F3A5F"/>
          </a:solidFill>
          <a:ln/>
        </p:spPr>
      </p:sp>
      <p:pic>
        <p:nvPicPr>
          <p:cNvPr id="6" name="Image 0" descr="icon_inbox_FFFFFF.png"/>
          <p:cNvPicPr>
            <a:picLocks noChangeAspect="1"/>
          </p:cNvPicPr>
          <p:nvPr/>
        </p:nvPicPr>
        <p:blipFill>
          <a:blip r:embed="rId3"/>
          <a:stretch>
            <a:fillRect/>
          </a:stretch>
        </p:blipFill>
        <p:spPr>
          <a:xfrm>
            <a:off x="1691640" y="2350008"/>
            <a:ext cx="438912" cy="438912"/>
          </a:xfrm>
          <a:prstGeom prst="rect">
            <a:avLst/>
          </a:prstGeom>
        </p:spPr>
      </p:pic>
      <p:sp>
        <p:nvSpPr>
          <p:cNvPr id="7" name="Text 4"/>
          <p:cNvSpPr/>
          <p:nvPr/>
        </p:nvSpPr>
        <p:spPr>
          <a:xfrm>
            <a:off x="804672"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High volume, no system</a:t>
            </a:r>
            <a:endParaRPr lang="en-US" sz="1450">
              <a:solidFill>
                <a:srgbClr val="FF0000"/>
              </a:solidFill>
              <a:latin typeface="Georgia"/>
              <a:ea typeface="Calibri"/>
              <a:cs typeface="Calibri"/>
            </a:endParaRPr>
          </a:p>
        </p:txBody>
      </p:sp>
      <p:sp>
        <p:nvSpPr>
          <p:cNvPr id="8" name="Text 5"/>
          <p:cNvSpPr/>
          <p:nvPr/>
        </p:nvSpPr>
        <p:spPr>
          <a:xfrm>
            <a:off x="841248" y="3611880"/>
            <a:ext cx="2139696" cy="1371600"/>
          </a:xfrm>
          <a:prstGeom prst="rect">
            <a:avLst/>
          </a:prstGeom>
          <a:noFill/>
          <a:ln/>
        </p:spPr>
        <p:txBody>
          <a:bodyPr wrap="square" lIns="91440" tIns="45720" rIns="91440" bIns="45720" rtlCol="0" anchor="t"/>
          <a:lstStyle/>
          <a:p>
            <a:pPr marL="0" indent="0" algn="ctr">
              <a:buNone/>
            </a:pPr>
            <a:r>
              <a:rPr lang="en-US" sz="1500" dirty="0">
                <a:solidFill>
                  <a:schemeClr val="tx1">
                    <a:lumMod val="95000"/>
                    <a:lumOff val="5000"/>
                  </a:schemeClr>
                </a:solidFill>
              </a:rPr>
              <a:t>A large number of complaints arrive daily with no central place to log them.</a:t>
            </a:r>
            <a:endParaRPr lang="en-US" sz="1500">
              <a:solidFill>
                <a:schemeClr val="tx1">
                  <a:lumMod val="95000"/>
                  <a:lumOff val="5000"/>
                </a:schemeClr>
              </a:solidFill>
              <a:ea typeface="Calibri"/>
              <a:cs typeface="Calibri"/>
            </a:endParaRPr>
          </a:p>
        </p:txBody>
      </p:sp>
      <p:sp>
        <p:nvSpPr>
          <p:cNvPr id="9" name="Shape 6"/>
          <p:cNvSpPr/>
          <p:nvPr/>
        </p:nvSpPr>
        <p:spPr>
          <a:xfrm>
            <a:off x="3438144" y="1874520"/>
            <a:ext cx="2542032"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10" name="Shape 7"/>
          <p:cNvSpPr/>
          <p:nvPr/>
        </p:nvSpPr>
        <p:spPr>
          <a:xfrm>
            <a:off x="4325112" y="2185416"/>
            <a:ext cx="768096" cy="768096"/>
          </a:xfrm>
          <a:prstGeom prst="ellipse">
            <a:avLst/>
          </a:prstGeom>
          <a:solidFill>
            <a:srgbClr val="1F3A5F"/>
          </a:solidFill>
          <a:ln/>
        </p:spPr>
      </p:sp>
      <p:pic>
        <p:nvPicPr>
          <p:cNvPr id="11" name="Image 1" descr="icon_xcircle_FFFFFF.png"/>
          <p:cNvPicPr>
            <a:picLocks noChangeAspect="1"/>
          </p:cNvPicPr>
          <p:nvPr/>
        </p:nvPicPr>
        <p:blipFill>
          <a:blip r:embed="rId4"/>
          <a:stretch>
            <a:fillRect/>
          </a:stretch>
        </p:blipFill>
        <p:spPr>
          <a:xfrm>
            <a:off x="4489704" y="2350008"/>
            <a:ext cx="438912" cy="438912"/>
          </a:xfrm>
          <a:prstGeom prst="rect">
            <a:avLst/>
          </a:prstGeom>
        </p:spPr>
      </p:pic>
      <p:sp>
        <p:nvSpPr>
          <p:cNvPr id="12" name="Text 8"/>
          <p:cNvSpPr/>
          <p:nvPr/>
        </p:nvSpPr>
        <p:spPr>
          <a:xfrm>
            <a:off x="3602736"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Misplaced records</a:t>
            </a:r>
            <a:endParaRPr lang="en-US" sz="1450">
              <a:solidFill>
                <a:srgbClr val="FF0000"/>
              </a:solidFill>
              <a:latin typeface="Georgia"/>
              <a:ea typeface="Calibri"/>
              <a:cs typeface="Calibri"/>
            </a:endParaRPr>
          </a:p>
        </p:txBody>
      </p:sp>
      <p:sp>
        <p:nvSpPr>
          <p:cNvPr id="13" name="Text 9"/>
          <p:cNvSpPr/>
          <p:nvPr/>
        </p:nvSpPr>
        <p:spPr>
          <a:xfrm>
            <a:off x="3639312" y="3611880"/>
            <a:ext cx="2139696" cy="1371600"/>
          </a:xfrm>
          <a:prstGeom prst="rect">
            <a:avLst/>
          </a:prstGeom>
          <a:noFill/>
          <a:ln/>
        </p:spPr>
        <p:txBody>
          <a:bodyPr wrap="square" lIns="91440" tIns="45720" rIns="91440" bIns="45720" rtlCol="0" anchor="t"/>
          <a:lstStyle/>
          <a:p>
            <a:pPr marL="0" indent="0" algn="ctr">
              <a:buNone/>
            </a:pPr>
            <a:r>
              <a:rPr lang="en-US" sz="1500"/>
              <a:t>Paper logs and scattered files mean complaints get lost before they're resolved.</a:t>
            </a:r>
            <a:endParaRPr lang="en-US" sz="1500">
              <a:ea typeface="Calibri"/>
              <a:cs typeface="Calibri"/>
            </a:endParaRPr>
          </a:p>
        </p:txBody>
      </p:sp>
      <p:sp>
        <p:nvSpPr>
          <p:cNvPr id="14" name="Shape 10"/>
          <p:cNvSpPr/>
          <p:nvPr/>
        </p:nvSpPr>
        <p:spPr>
          <a:xfrm>
            <a:off x="6236208" y="1874520"/>
            <a:ext cx="2542032"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15" name="Shape 11"/>
          <p:cNvSpPr/>
          <p:nvPr/>
        </p:nvSpPr>
        <p:spPr>
          <a:xfrm>
            <a:off x="7123176" y="2185416"/>
            <a:ext cx="768096" cy="768096"/>
          </a:xfrm>
          <a:prstGeom prst="ellipse">
            <a:avLst/>
          </a:prstGeom>
          <a:solidFill>
            <a:srgbClr val="1F3A5F"/>
          </a:solidFill>
          <a:ln/>
        </p:spPr>
      </p:sp>
      <p:pic>
        <p:nvPicPr>
          <p:cNvPr id="16" name="Image 2" descr="icon_clock_FFFFFF.png"/>
          <p:cNvPicPr>
            <a:picLocks noChangeAspect="1"/>
          </p:cNvPicPr>
          <p:nvPr/>
        </p:nvPicPr>
        <p:blipFill>
          <a:blip r:embed="rId5"/>
          <a:stretch>
            <a:fillRect/>
          </a:stretch>
        </p:blipFill>
        <p:spPr>
          <a:xfrm>
            <a:off x="7287768" y="2350008"/>
            <a:ext cx="438912" cy="438912"/>
          </a:xfrm>
          <a:prstGeom prst="rect">
            <a:avLst/>
          </a:prstGeom>
        </p:spPr>
      </p:pic>
      <p:sp>
        <p:nvSpPr>
          <p:cNvPr id="17" name="Text 12"/>
          <p:cNvSpPr/>
          <p:nvPr/>
        </p:nvSpPr>
        <p:spPr>
          <a:xfrm>
            <a:off x="6400800"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Delayed responses</a:t>
            </a:r>
            <a:endParaRPr lang="en-US" sz="1450">
              <a:solidFill>
                <a:srgbClr val="FF0000"/>
              </a:solidFill>
              <a:latin typeface="Georgia"/>
              <a:ea typeface="Calibri"/>
              <a:cs typeface="Calibri"/>
            </a:endParaRPr>
          </a:p>
        </p:txBody>
      </p:sp>
      <p:sp>
        <p:nvSpPr>
          <p:cNvPr id="18" name="Text 13"/>
          <p:cNvSpPr/>
          <p:nvPr/>
        </p:nvSpPr>
        <p:spPr>
          <a:xfrm>
            <a:off x="6437376" y="3611880"/>
            <a:ext cx="2139696" cy="1371600"/>
          </a:xfrm>
          <a:prstGeom prst="rect">
            <a:avLst/>
          </a:prstGeom>
          <a:noFill/>
          <a:ln/>
        </p:spPr>
        <p:txBody>
          <a:bodyPr wrap="square" lIns="91440" tIns="45720" rIns="91440" bIns="45720" rtlCol="0" anchor="t"/>
          <a:lstStyle/>
          <a:p>
            <a:pPr marL="0" indent="0" algn="ctr">
              <a:buNone/>
            </a:pPr>
            <a:r>
              <a:rPr lang="en-US" sz="1500"/>
              <a:t>Without tracking, nobody knows which complaints are aging or overdue.</a:t>
            </a:r>
            <a:endParaRPr lang="en-US" sz="1500">
              <a:ea typeface="Calibri"/>
              <a:cs typeface="Calibri"/>
            </a:endParaRPr>
          </a:p>
        </p:txBody>
      </p:sp>
      <p:sp>
        <p:nvSpPr>
          <p:cNvPr id="19" name="Shape 14"/>
          <p:cNvSpPr/>
          <p:nvPr/>
        </p:nvSpPr>
        <p:spPr>
          <a:xfrm>
            <a:off x="9034272" y="1874520"/>
            <a:ext cx="2542032" cy="3246120"/>
          </a:xfrm>
          <a:prstGeom prst="roundRect">
            <a:avLst>
              <a:gd name="adj" fmla="val 3237"/>
            </a:avLst>
          </a:prstGeom>
          <a:solidFill>
            <a:srgbClr val="F4F6F8"/>
          </a:solidFill>
          <a:ln/>
          <a:effectLst>
            <a:outerShdw blurRad="76200" dist="25400" dir="5400000" algn="bl" rotWithShape="0">
              <a:srgbClr val="1E2A38">
                <a:alpha val="12000"/>
              </a:srgbClr>
            </a:outerShdw>
          </a:effectLst>
        </p:spPr>
      </p:sp>
      <p:sp>
        <p:nvSpPr>
          <p:cNvPr id="20" name="Shape 15"/>
          <p:cNvSpPr/>
          <p:nvPr/>
        </p:nvSpPr>
        <p:spPr>
          <a:xfrm>
            <a:off x="9921240" y="2185416"/>
            <a:ext cx="768096" cy="768096"/>
          </a:xfrm>
          <a:prstGeom prst="ellipse">
            <a:avLst/>
          </a:prstGeom>
          <a:solidFill>
            <a:srgbClr val="1F3A5F"/>
          </a:solidFill>
          <a:ln/>
        </p:spPr>
      </p:sp>
      <p:pic>
        <p:nvPicPr>
          <p:cNvPr id="21" name="Image 3" descr="icon_search_FFFFFF.png"/>
          <p:cNvPicPr>
            <a:picLocks noChangeAspect="1"/>
          </p:cNvPicPr>
          <p:nvPr/>
        </p:nvPicPr>
        <p:blipFill>
          <a:blip r:embed="rId6"/>
          <a:stretch>
            <a:fillRect/>
          </a:stretch>
        </p:blipFill>
        <p:spPr>
          <a:xfrm>
            <a:off x="10085832" y="2350008"/>
            <a:ext cx="438912" cy="438912"/>
          </a:xfrm>
          <a:prstGeom prst="rect">
            <a:avLst/>
          </a:prstGeom>
        </p:spPr>
      </p:pic>
      <p:sp>
        <p:nvSpPr>
          <p:cNvPr id="22" name="Text 16"/>
          <p:cNvSpPr/>
          <p:nvPr/>
        </p:nvSpPr>
        <p:spPr>
          <a:xfrm>
            <a:off x="9198864" y="3108960"/>
            <a:ext cx="2212848" cy="502920"/>
          </a:xfrm>
          <a:prstGeom prst="rect">
            <a:avLst/>
          </a:prstGeom>
          <a:noFill/>
          <a:ln/>
        </p:spPr>
        <p:txBody>
          <a:bodyPr wrap="square" lIns="91440" tIns="45720" rIns="91440" bIns="45720" rtlCol="0" anchor="ctr"/>
          <a:lstStyle/>
          <a:p>
            <a:pPr marL="0" indent="0" algn="ctr">
              <a:buNone/>
            </a:pPr>
            <a:r>
              <a:rPr lang="en-US" sz="1450" b="1">
                <a:solidFill>
                  <a:srgbClr val="FF0000"/>
                </a:solidFill>
                <a:latin typeface="Georgia"/>
                <a:ea typeface="Georgia" pitchFamily="34" charset="-122"/>
                <a:cs typeface="Georgia" pitchFamily="34" charset="-120"/>
              </a:rPr>
              <a:t>No easy retrieval</a:t>
            </a:r>
            <a:endParaRPr lang="en-US" sz="1450">
              <a:solidFill>
                <a:srgbClr val="FF0000"/>
              </a:solidFill>
              <a:latin typeface="Georgia"/>
              <a:ea typeface="Calibri"/>
              <a:cs typeface="Calibri"/>
            </a:endParaRPr>
          </a:p>
        </p:txBody>
      </p:sp>
      <p:sp>
        <p:nvSpPr>
          <p:cNvPr id="23" name="Text 17"/>
          <p:cNvSpPr/>
          <p:nvPr/>
        </p:nvSpPr>
        <p:spPr>
          <a:xfrm>
            <a:off x="9235440" y="3611880"/>
            <a:ext cx="2139696" cy="1371600"/>
          </a:xfrm>
          <a:prstGeom prst="rect">
            <a:avLst/>
          </a:prstGeom>
          <a:noFill/>
          <a:ln/>
        </p:spPr>
        <p:txBody>
          <a:bodyPr wrap="square" lIns="91440" tIns="45720" rIns="91440" bIns="45720" rtlCol="0" anchor="t"/>
          <a:lstStyle/>
          <a:p>
            <a:pPr marL="0" indent="0" algn="ctr">
              <a:buNone/>
            </a:pPr>
            <a:r>
              <a:rPr lang="en-US" sz="1500"/>
              <a:t>Finding the status or history of a specific complaint takes manual searching.</a:t>
            </a:r>
            <a:endParaRPr lang="en-US" sz="1500">
              <a:ea typeface="Calibri"/>
              <a:cs typeface="Calibri"/>
            </a:endParaRPr>
          </a:p>
        </p:txBody>
      </p:sp>
      <p:sp>
        <p:nvSpPr>
          <p:cNvPr id="24" name="Text 18"/>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5" name="Text 19"/>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3</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OBJECTIVES</a:t>
            </a:r>
            <a:endParaRPr lang="en-US" sz="2400"/>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FFFFFF"/>
                </a:solidFill>
                <a:latin typeface="Georgia" pitchFamily="34" charset="0"/>
                <a:ea typeface="Georgia" pitchFamily="34" charset="-122"/>
                <a:cs typeface="Georgia" pitchFamily="34" charset="-120"/>
              </a:rPr>
              <a:t>What the system sets out to do</a:t>
            </a:r>
            <a:endParaRPr lang="en-US" sz="2700"/>
          </a:p>
        </p:txBody>
      </p:sp>
      <p:sp>
        <p:nvSpPr>
          <p:cNvPr id="4" name="Shape 2"/>
          <p:cNvSpPr/>
          <p:nvPr/>
        </p:nvSpPr>
        <p:spPr>
          <a:xfrm>
            <a:off x="640080" y="1874520"/>
            <a:ext cx="5212080" cy="1051560"/>
          </a:xfrm>
          <a:prstGeom prst="roundRect">
            <a:avLst>
              <a:gd name="adj" fmla="val 6957"/>
            </a:avLst>
          </a:prstGeom>
          <a:solidFill>
            <a:srgbClr val="294B76"/>
          </a:solidFill>
          <a:ln/>
        </p:spPr>
      </p:sp>
      <p:sp>
        <p:nvSpPr>
          <p:cNvPr id="5" name="Shape 3"/>
          <p:cNvSpPr/>
          <p:nvPr/>
        </p:nvSpPr>
        <p:spPr>
          <a:xfrm>
            <a:off x="822960" y="2144268"/>
            <a:ext cx="512064" cy="512064"/>
          </a:xfrm>
          <a:prstGeom prst="ellipse">
            <a:avLst/>
          </a:prstGeom>
          <a:solidFill>
            <a:srgbClr val="E8734A"/>
          </a:solidFill>
          <a:ln/>
        </p:spPr>
      </p:sp>
      <p:pic>
        <p:nvPicPr>
          <p:cNvPr id="6" name="Image 0" descr="icon_target_FFFFFF.png"/>
          <p:cNvPicPr>
            <a:picLocks noChangeAspect="1"/>
          </p:cNvPicPr>
          <p:nvPr/>
        </p:nvPicPr>
        <p:blipFill>
          <a:blip r:embed="rId3"/>
          <a:stretch>
            <a:fillRect/>
          </a:stretch>
        </p:blipFill>
        <p:spPr>
          <a:xfrm>
            <a:off x="941832" y="2263140"/>
            <a:ext cx="274320" cy="274320"/>
          </a:xfrm>
          <a:prstGeom prst="rect">
            <a:avLst/>
          </a:prstGeom>
        </p:spPr>
      </p:pic>
      <p:sp>
        <p:nvSpPr>
          <p:cNvPr id="7" name="Text 4"/>
          <p:cNvSpPr/>
          <p:nvPr/>
        </p:nvSpPr>
        <p:spPr>
          <a:xfrm>
            <a:off x="1481328" y="1874520"/>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Let customers register and monitor complaint status themselves</a:t>
            </a:r>
            <a:endParaRPr lang="en-US" sz="1600"/>
          </a:p>
        </p:txBody>
      </p:sp>
      <p:sp>
        <p:nvSpPr>
          <p:cNvPr id="8" name="Shape 5"/>
          <p:cNvSpPr/>
          <p:nvPr/>
        </p:nvSpPr>
        <p:spPr>
          <a:xfrm>
            <a:off x="6217920" y="1874520"/>
            <a:ext cx="5212080" cy="1051560"/>
          </a:xfrm>
          <a:prstGeom prst="roundRect">
            <a:avLst>
              <a:gd name="adj" fmla="val 6957"/>
            </a:avLst>
          </a:prstGeom>
          <a:solidFill>
            <a:srgbClr val="294B76"/>
          </a:solidFill>
          <a:ln/>
        </p:spPr>
      </p:sp>
      <p:sp>
        <p:nvSpPr>
          <p:cNvPr id="9" name="Shape 6"/>
          <p:cNvSpPr/>
          <p:nvPr/>
        </p:nvSpPr>
        <p:spPr>
          <a:xfrm>
            <a:off x="6400800" y="2144268"/>
            <a:ext cx="512064" cy="512064"/>
          </a:xfrm>
          <a:prstGeom prst="ellipse">
            <a:avLst/>
          </a:prstGeom>
          <a:solidFill>
            <a:srgbClr val="E8734A"/>
          </a:solidFill>
          <a:ln/>
        </p:spPr>
      </p:sp>
      <p:pic>
        <p:nvPicPr>
          <p:cNvPr id="10" name="Image 1" descr="icon_layers_FFFFFF.png"/>
          <p:cNvPicPr>
            <a:picLocks noChangeAspect="1"/>
          </p:cNvPicPr>
          <p:nvPr/>
        </p:nvPicPr>
        <p:blipFill>
          <a:blip r:embed="rId4"/>
          <a:stretch>
            <a:fillRect/>
          </a:stretch>
        </p:blipFill>
        <p:spPr>
          <a:xfrm>
            <a:off x="6519672" y="2263140"/>
            <a:ext cx="274320" cy="274320"/>
          </a:xfrm>
          <a:prstGeom prst="rect">
            <a:avLst/>
          </a:prstGeom>
        </p:spPr>
      </p:pic>
      <p:sp>
        <p:nvSpPr>
          <p:cNvPr id="11" name="Text 7"/>
          <p:cNvSpPr/>
          <p:nvPr/>
        </p:nvSpPr>
        <p:spPr>
          <a:xfrm>
            <a:off x="7059168" y="1874520"/>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Give administrators one interface to categorize, assign, and resolve</a:t>
            </a:r>
            <a:endParaRPr lang="en-US" sz="1600">
              <a:ea typeface="Calibri"/>
              <a:cs typeface="Calibri"/>
            </a:endParaRPr>
          </a:p>
        </p:txBody>
      </p:sp>
      <p:sp>
        <p:nvSpPr>
          <p:cNvPr id="12" name="Shape 8"/>
          <p:cNvSpPr/>
          <p:nvPr/>
        </p:nvSpPr>
        <p:spPr>
          <a:xfrm>
            <a:off x="640080" y="3127248"/>
            <a:ext cx="5212080" cy="1051560"/>
          </a:xfrm>
          <a:prstGeom prst="roundRect">
            <a:avLst>
              <a:gd name="adj" fmla="val 6957"/>
            </a:avLst>
          </a:prstGeom>
          <a:solidFill>
            <a:srgbClr val="294B76"/>
          </a:solidFill>
          <a:ln/>
        </p:spPr>
      </p:sp>
      <p:sp>
        <p:nvSpPr>
          <p:cNvPr id="13" name="Shape 9"/>
          <p:cNvSpPr/>
          <p:nvPr/>
        </p:nvSpPr>
        <p:spPr>
          <a:xfrm>
            <a:off x="822960" y="3396996"/>
            <a:ext cx="512064" cy="512064"/>
          </a:xfrm>
          <a:prstGeom prst="ellipse">
            <a:avLst/>
          </a:prstGeom>
          <a:solidFill>
            <a:srgbClr val="E8734A"/>
          </a:solidFill>
          <a:ln/>
        </p:spPr>
      </p:sp>
      <p:pic>
        <p:nvPicPr>
          <p:cNvPr id="14" name="Image 2" descr="icon_database_FFFFFF.png"/>
          <p:cNvPicPr>
            <a:picLocks noChangeAspect="1"/>
          </p:cNvPicPr>
          <p:nvPr/>
        </p:nvPicPr>
        <p:blipFill>
          <a:blip r:embed="rId5"/>
          <a:stretch>
            <a:fillRect/>
          </a:stretch>
        </p:blipFill>
        <p:spPr>
          <a:xfrm>
            <a:off x="941832" y="3515868"/>
            <a:ext cx="274320" cy="274320"/>
          </a:xfrm>
          <a:prstGeom prst="rect">
            <a:avLst/>
          </a:prstGeom>
        </p:spPr>
      </p:pic>
      <p:sp>
        <p:nvSpPr>
          <p:cNvPr id="15" name="Text 10"/>
          <p:cNvSpPr/>
          <p:nvPr/>
        </p:nvSpPr>
        <p:spPr>
          <a:xfrm>
            <a:off x="1481328" y="3127248"/>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Store every complaint securely with a unique tracking ID</a:t>
            </a:r>
            <a:endParaRPr lang="en-US" sz="1600">
              <a:ea typeface="Calibri"/>
              <a:cs typeface="Calibri"/>
            </a:endParaRPr>
          </a:p>
        </p:txBody>
      </p:sp>
      <p:sp>
        <p:nvSpPr>
          <p:cNvPr id="16" name="Shape 11"/>
          <p:cNvSpPr/>
          <p:nvPr/>
        </p:nvSpPr>
        <p:spPr>
          <a:xfrm>
            <a:off x="6217920" y="3127248"/>
            <a:ext cx="5212080" cy="1051560"/>
          </a:xfrm>
          <a:prstGeom prst="roundRect">
            <a:avLst>
              <a:gd name="adj" fmla="val 6957"/>
            </a:avLst>
          </a:prstGeom>
          <a:solidFill>
            <a:srgbClr val="294B76"/>
          </a:solidFill>
          <a:ln/>
        </p:spPr>
      </p:sp>
      <p:sp>
        <p:nvSpPr>
          <p:cNvPr id="17" name="Shape 12"/>
          <p:cNvSpPr/>
          <p:nvPr/>
        </p:nvSpPr>
        <p:spPr>
          <a:xfrm>
            <a:off x="6400800" y="3396996"/>
            <a:ext cx="512064" cy="512064"/>
          </a:xfrm>
          <a:prstGeom prst="ellipse">
            <a:avLst/>
          </a:prstGeom>
          <a:solidFill>
            <a:srgbClr val="E8734A"/>
          </a:solidFill>
          <a:ln/>
        </p:spPr>
      </p:sp>
      <p:pic>
        <p:nvPicPr>
          <p:cNvPr id="18" name="Image 3" descr="icon_repeat_FFFFFF.png"/>
          <p:cNvPicPr>
            <a:picLocks noChangeAspect="1"/>
          </p:cNvPicPr>
          <p:nvPr/>
        </p:nvPicPr>
        <p:blipFill>
          <a:blip r:embed="rId6"/>
          <a:stretch>
            <a:fillRect/>
          </a:stretch>
        </p:blipFill>
        <p:spPr>
          <a:xfrm>
            <a:off x="6519672" y="3515868"/>
            <a:ext cx="274320" cy="274320"/>
          </a:xfrm>
          <a:prstGeom prst="rect">
            <a:avLst/>
          </a:prstGeom>
        </p:spPr>
      </p:pic>
      <p:sp>
        <p:nvSpPr>
          <p:cNvPr id="19" name="Text 13"/>
          <p:cNvSpPr/>
          <p:nvPr/>
        </p:nvSpPr>
        <p:spPr>
          <a:xfrm>
            <a:off x="7059168" y="3127248"/>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Maintain full complaint history for accountability</a:t>
            </a:r>
            <a:endParaRPr lang="en-US" sz="1600">
              <a:ea typeface="Calibri"/>
              <a:cs typeface="Calibri"/>
            </a:endParaRPr>
          </a:p>
        </p:txBody>
      </p:sp>
      <p:sp>
        <p:nvSpPr>
          <p:cNvPr id="20" name="Shape 14"/>
          <p:cNvSpPr/>
          <p:nvPr/>
        </p:nvSpPr>
        <p:spPr>
          <a:xfrm>
            <a:off x="640080" y="4379976"/>
            <a:ext cx="5212080" cy="1051560"/>
          </a:xfrm>
          <a:prstGeom prst="roundRect">
            <a:avLst>
              <a:gd name="adj" fmla="val 6957"/>
            </a:avLst>
          </a:prstGeom>
          <a:solidFill>
            <a:srgbClr val="294B76"/>
          </a:solidFill>
          <a:ln/>
        </p:spPr>
      </p:sp>
      <p:sp>
        <p:nvSpPr>
          <p:cNvPr id="21" name="Shape 15"/>
          <p:cNvSpPr/>
          <p:nvPr/>
        </p:nvSpPr>
        <p:spPr>
          <a:xfrm>
            <a:off x="822960" y="4649724"/>
            <a:ext cx="512064" cy="512064"/>
          </a:xfrm>
          <a:prstGeom prst="ellipse">
            <a:avLst/>
          </a:prstGeom>
          <a:solidFill>
            <a:srgbClr val="E8734A"/>
          </a:solidFill>
          <a:ln/>
        </p:spPr>
      </p:sp>
      <p:pic>
        <p:nvPicPr>
          <p:cNvPr id="22" name="Image 4" descr="icon_search_FFFFFF.png"/>
          <p:cNvPicPr>
            <a:picLocks noChangeAspect="1"/>
          </p:cNvPicPr>
          <p:nvPr/>
        </p:nvPicPr>
        <p:blipFill>
          <a:blip r:embed="rId7"/>
          <a:stretch>
            <a:fillRect/>
          </a:stretch>
        </p:blipFill>
        <p:spPr>
          <a:xfrm>
            <a:off x="941832" y="4768596"/>
            <a:ext cx="274320" cy="274320"/>
          </a:xfrm>
          <a:prstGeom prst="rect">
            <a:avLst/>
          </a:prstGeom>
        </p:spPr>
      </p:pic>
      <p:sp>
        <p:nvSpPr>
          <p:cNvPr id="23" name="Text 16"/>
          <p:cNvSpPr/>
          <p:nvPr/>
        </p:nvSpPr>
        <p:spPr>
          <a:xfrm>
            <a:off x="1481328" y="4379976"/>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Support fast search and retrieval of any record</a:t>
            </a:r>
            <a:endParaRPr lang="en-US" sz="1600">
              <a:ea typeface="Calibri"/>
              <a:cs typeface="Calibri"/>
            </a:endParaRPr>
          </a:p>
        </p:txBody>
      </p:sp>
      <p:sp>
        <p:nvSpPr>
          <p:cNvPr id="24" name="Shape 17"/>
          <p:cNvSpPr/>
          <p:nvPr/>
        </p:nvSpPr>
        <p:spPr>
          <a:xfrm>
            <a:off x="6217920" y="4379976"/>
            <a:ext cx="5212080" cy="1051560"/>
          </a:xfrm>
          <a:prstGeom prst="roundRect">
            <a:avLst>
              <a:gd name="adj" fmla="val 6957"/>
            </a:avLst>
          </a:prstGeom>
          <a:solidFill>
            <a:srgbClr val="294B76"/>
          </a:solidFill>
          <a:ln/>
        </p:spPr>
      </p:sp>
      <p:sp>
        <p:nvSpPr>
          <p:cNvPr id="25" name="Shape 18"/>
          <p:cNvSpPr/>
          <p:nvPr/>
        </p:nvSpPr>
        <p:spPr>
          <a:xfrm>
            <a:off x="6400800" y="4649724"/>
            <a:ext cx="512064" cy="512064"/>
          </a:xfrm>
          <a:prstGeom prst="ellipse">
            <a:avLst/>
          </a:prstGeom>
          <a:solidFill>
            <a:srgbClr val="E8734A"/>
          </a:solidFill>
          <a:ln/>
        </p:spPr>
      </p:sp>
      <p:pic>
        <p:nvPicPr>
          <p:cNvPr id="26" name="Image 5" descr="icon_pie_FFFFFF.png"/>
          <p:cNvPicPr>
            <a:picLocks noChangeAspect="1"/>
          </p:cNvPicPr>
          <p:nvPr/>
        </p:nvPicPr>
        <p:blipFill>
          <a:blip r:embed="rId8"/>
          <a:stretch>
            <a:fillRect/>
          </a:stretch>
        </p:blipFill>
        <p:spPr>
          <a:xfrm>
            <a:off x="6519672" y="4768596"/>
            <a:ext cx="274320" cy="274320"/>
          </a:xfrm>
          <a:prstGeom prst="rect">
            <a:avLst/>
          </a:prstGeom>
        </p:spPr>
      </p:pic>
      <p:sp>
        <p:nvSpPr>
          <p:cNvPr id="27" name="Text 19"/>
          <p:cNvSpPr/>
          <p:nvPr/>
        </p:nvSpPr>
        <p:spPr>
          <a:xfrm>
            <a:off x="7059168" y="4379976"/>
            <a:ext cx="4206240" cy="1051560"/>
          </a:xfrm>
          <a:prstGeom prst="rect">
            <a:avLst/>
          </a:prstGeom>
          <a:noFill/>
          <a:ln/>
        </p:spPr>
        <p:txBody>
          <a:bodyPr wrap="square" lIns="91440" tIns="45720" rIns="91440" bIns="45720" rtlCol="0" anchor="ctr"/>
          <a:lstStyle/>
          <a:p>
            <a:pPr marL="0" indent="0">
              <a:buNone/>
            </a:pPr>
            <a:r>
              <a:rPr lang="en-US" sz="1600">
                <a:solidFill>
                  <a:srgbClr val="FFFFFF"/>
                </a:solidFill>
              </a:rPr>
              <a:t>Generate reports that surface recurring issues</a:t>
            </a:r>
            <a:endParaRPr lang="en-US" sz="1600">
              <a:ea typeface="Calibri"/>
              <a:cs typeface="Calibri"/>
            </a:endParaRPr>
          </a:p>
        </p:txBody>
      </p:sp>
      <p:sp>
        <p:nvSpPr>
          <p:cNvPr id="28" name="Text 20"/>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9" name="Text 21"/>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4</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WHO USES IT</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Two roles, one shared record</a:t>
            </a:r>
            <a:endParaRPr lang="en-US" sz="2700"/>
          </a:p>
        </p:txBody>
      </p:sp>
      <p:sp>
        <p:nvSpPr>
          <p:cNvPr id="4" name="Shape 2"/>
          <p:cNvSpPr/>
          <p:nvPr/>
        </p:nvSpPr>
        <p:spPr>
          <a:xfrm>
            <a:off x="457200" y="1503680"/>
            <a:ext cx="5349240" cy="4531360"/>
          </a:xfrm>
          <a:prstGeom prst="roundRect">
            <a:avLst>
              <a:gd name="adj" fmla="val 1957"/>
            </a:avLst>
          </a:prstGeom>
          <a:solidFill>
            <a:srgbClr val="F4F6F8"/>
          </a:solidFill>
          <a:ln/>
        </p:spPr>
      </p:sp>
      <p:sp>
        <p:nvSpPr>
          <p:cNvPr id="5" name="Shape 3"/>
          <p:cNvSpPr/>
          <p:nvPr/>
        </p:nvSpPr>
        <p:spPr>
          <a:xfrm>
            <a:off x="960120" y="2148840"/>
            <a:ext cx="685800" cy="685800"/>
          </a:xfrm>
          <a:prstGeom prst="ellipse">
            <a:avLst/>
          </a:prstGeom>
          <a:solidFill>
            <a:srgbClr val="1F3A5F"/>
          </a:solidFill>
          <a:ln/>
        </p:spPr>
      </p:sp>
      <p:pic>
        <p:nvPicPr>
          <p:cNvPr id="6" name="Image 0" descr="icon_user_FFFFFF.png"/>
          <p:cNvPicPr>
            <a:picLocks noChangeAspect="1"/>
          </p:cNvPicPr>
          <p:nvPr/>
        </p:nvPicPr>
        <p:blipFill>
          <a:blip r:embed="rId3"/>
          <a:stretch>
            <a:fillRect/>
          </a:stretch>
        </p:blipFill>
        <p:spPr>
          <a:xfrm>
            <a:off x="1143000" y="2311400"/>
            <a:ext cx="320040" cy="320040"/>
          </a:xfrm>
          <a:prstGeom prst="rect">
            <a:avLst/>
          </a:prstGeom>
        </p:spPr>
      </p:pic>
      <p:sp>
        <p:nvSpPr>
          <p:cNvPr id="7" name="Text 4"/>
          <p:cNvSpPr/>
          <p:nvPr/>
        </p:nvSpPr>
        <p:spPr>
          <a:xfrm>
            <a:off x="1783080" y="2194560"/>
            <a:ext cx="3794760" cy="548640"/>
          </a:xfrm>
          <a:prstGeom prst="rect">
            <a:avLst/>
          </a:prstGeom>
          <a:noFill/>
          <a:ln/>
        </p:spPr>
        <p:txBody>
          <a:bodyPr wrap="square" lIns="91440" tIns="45720" rIns="91440" bIns="45720" rtlCol="0" anchor="ctr"/>
          <a:lstStyle/>
          <a:p>
            <a:pPr marL="0" indent="0">
              <a:buNone/>
            </a:pPr>
            <a:r>
              <a:rPr lang="en-US" sz="2000" b="1">
                <a:solidFill>
                  <a:srgbClr val="1E2A38"/>
                </a:solidFill>
                <a:latin typeface="Georgia"/>
                <a:ea typeface="Georgia" pitchFamily="34" charset="-122"/>
                <a:cs typeface="Georgia" pitchFamily="34" charset="-120"/>
              </a:rPr>
              <a:t>Customer</a:t>
            </a:r>
            <a:endParaRPr lang="en-US" sz="2000">
              <a:latin typeface="Georgia"/>
              <a:ea typeface="Calibri"/>
              <a:cs typeface="Calibri"/>
            </a:endParaRPr>
          </a:p>
        </p:txBody>
      </p:sp>
      <p:sp>
        <p:nvSpPr>
          <p:cNvPr id="8" name="Shape 5"/>
          <p:cNvSpPr/>
          <p:nvPr/>
        </p:nvSpPr>
        <p:spPr>
          <a:xfrm>
            <a:off x="960120" y="3163824"/>
            <a:ext cx="128016" cy="128016"/>
          </a:xfrm>
          <a:prstGeom prst="ellipse">
            <a:avLst/>
          </a:prstGeom>
          <a:solidFill>
            <a:srgbClr val="1F3A5F"/>
          </a:solidFill>
          <a:ln/>
        </p:spPr>
      </p:sp>
      <p:sp>
        <p:nvSpPr>
          <p:cNvPr id="9" name="Text 6"/>
          <p:cNvSpPr/>
          <p:nvPr/>
        </p:nvSpPr>
        <p:spPr>
          <a:xfrm>
            <a:off x="1234440" y="3017520"/>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Register a new complaint with details of the issue</a:t>
            </a:r>
            <a:endParaRPr lang="en-US" sz="1600">
              <a:ea typeface="Calibri"/>
              <a:cs typeface="Calibri"/>
            </a:endParaRPr>
          </a:p>
        </p:txBody>
      </p:sp>
      <p:sp>
        <p:nvSpPr>
          <p:cNvPr id="10" name="Shape 7"/>
          <p:cNvSpPr/>
          <p:nvPr/>
        </p:nvSpPr>
        <p:spPr>
          <a:xfrm>
            <a:off x="960120" y="3822192"/>
            <a:ext cx="128016" cy="128016"/>
          </a:xfrm>
          <a:prstGeom prst="ellipse">
            <a:avLst/>
          </a:prstGeom>
          <a:solidFill>
            <a:srgbClr val="1F3A5F"/>
          </a:solidFill>
          <a:ln/>
        </p:spPr>
      </p:sp>
      <p:sp>
        <p:nvSpPr>
          <p:cNvPr id="11" name="Text 8"/>
          <p:cNvSpPr/>
          <p:nvPr/>
        </p:nvSpPr>
        <p:spPr>
          <a:xfrm>
            <a:off x="1234440" y="3675888"/>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Receive a unique tracking ID for the complaint</a:t>
            </a:r>
            <a:endParaRPr lang="en-US" sz="1600">
              <a:ea typeface="Calibri"/>
              <a:cs typeface="Calibri"/>
            </a:endParaRPr>
          </a:p>
        </p:txBody>
      </p:sp>
      <p:sp>
        <p:nvSpPr>
          <p:cNvPr id="12" name="Shape 9"/>
          <p:cNvSpPr/>
          <p:nvPr/>
        </p:nvSpPr>
        <p:spPr>
          <a:xfrm>
            <a:off x="960120" y="4480560"/>
            <a:ext cx="128016" cy="128016"/>
          </a:xfrm>
          <a:prstGeom prst="ellipse">
            <a:avLst/>
          </a:prstGeom>
          <a:solidFill>
            <a:srgbClr val="1F3A5F"/>
          </a:solidFill>
          <a:ln/>
        </p:spPr>
      </p:sp>
      <p:sp>
        <p:nvSpPr>
          <p:cNvPr id="13" name="Text 10"/>
          <p:cNvSpPr/>
          <p:nvPr/>
        </p:nvSpPr>
        <p:spPr>
          <a:xfrm>
            <a:off x="1234440" y="4334256"/>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Check real-time status of any submitted complaint</a:t>
            </a:r>
            <a:endParaRPr lang="en-US" sz="1600">
              <a:ea typeface="Calibri"/>
              <a:cs typeface="Calibri"/>
            </a:endParaRPr>
          </a:p>
        </p:txBody>
      </p:sp>
      <p:sp>
        <p:nvSpPr>
          <p:cNvPr id="14" name="Shape 11"/>
          <p:cNvSpPr/>
          <p:nvPr/>
        </p:nvSpPr>
        <p:spPr>
          <a:xfrm>
            <a:off x="960120" y="5138928"/>
            <a:ext cx="128016" cy="128016"/>
          </a:xfrm>
          <a:prstGeom prst="ellipse">
            <a:avLst/>
          </a:prstGeom>
          <a:solidFill>
            <a:srgbClr val="1F3A5F"/>
          </a:solidFill>
          <a:ln/>
        </p:spPr>
      </p:sp>
      <p:sp>
        <p:nvSpPr>
          <p:cNvPr id="15" name="Text 12"/>
          <p:cNvSpPr/>
          <p:nvPr/>
        </p:nvSpPr>
        <p:spPr>
          <a:xfrm>
            <a:off x="1234440" y="4992624"/>
            <a:ext cx="4251960" cy="548640"/>
          </a:xfrm>
          <a:prstGeom prst="rect">
            <a:avLst/>
          </a:prstGeom>
          <a:noFill/>
          <a:ln/>
        </p:spPr>
        <p:txBody>
          <a:bodyPr wrap="square" lIns="91440" tIns="45720" rIns="91440" bIns="45720" rtlCol="0" anchor="t"/>
          <a:lstStyle/>
          <a:p>
            <a:pPr marL="0" indent="0">
              <a:buNone/>
            </a:pPr>
            <a:r>
              <a:rPr lang="en-US" sz="1600">
                <a:solidFill>
                  <a:srgbClr val="1E2A38"/>
                </a:solidFill>
              </a:rPr>
              <a:t>View full history of past complaints and outcomes</a:t>
            </a:r>
            <a:endParaRPr lang="en-US" sz="1600">
              <a:ea typeface="Calibri"/>
              <a:cs typeface="Calibri"/>
            </a:endParaRPr>
          </a:p>
        </p:txBody>
      </p:sp>
      <p:sp>
        <p:nvSpPr>
          <p:cNvPr id="16" name="Shape 13"/>
          <p:cNvSpPr/>
          <p:nvPr/>
        </p:nvSpPr>
        <p:spPr>
          <a:xfrm>
            <a:off x="5969000" y="1503680"/>
            <a:ext cx="5582920" cy="4531360"/>
          </a:xfrm>
          <a:prstGeom prst="roundRect">
            <a:avLst>
              <a:gd name="adj" fmla="val 1957"/>
            </a:avLst>
          </a:prstGeom>
          <a:solidFill>
            <a:srgbClr val="1F3A5F"/>
          </a:solidFill>
          <a:ln/>
        </p:spPr>
      </p:sp>
      <p:sp>
        <p:nvSpPr>
          <p:cNvPr id="17" name="Shape 14"/>
          <p:cNvSpPr/>
          <p:nvPr/>
        </p:nvSpPr>
        <p:spPr>
          <a:xfrm>
            <a:off x="6675120" y="2148840"/>
            <a:ext cx="685800" cy="685800"/>
          </a:xfrm>
          <a:prstGeom prst="ellipse">
            <a:avLst/>
          </a:prstGeom>
          <a:solidFill>
            <a:srgbClr val="E8734A"/>
          </a:solidFill>
          <a:ln/>
        </p:spPr>
      </p:sp>
      <p:pic>
        <p:nvPicPr>
          <p:cNvPr id="18" name="Image 1" descr="icon_settings_FFFFFF.png"/>
          <p:cNvPicPr>
            <a:picLocks noChangeAspect="1"/>
          </p:cNvPicPr>
          <p:nvPr/>
        </p:nvPicPr>
        <p:blipFill>
          <a:blip r:embed="rId4"/>
          <a:stretch>
            <a:fillRect/>
          </a:stretch>
        </p:blipFill>
        <p:spPr>
          <a:xfrm>
            <a:off x="6858000" y="2331720"/>
            <a:ext cx="320040" cy="320040"/>
          </a:xfrm>
          <a:prstGeom prst="rect">
            <a:avLst/>
          </a:prstGeom>
        </p:spPr>
      </p:pic>
      <p:sp>
        <p:nvSpPr>
          <p:cNvPr id="19" name="Text 15"/>
          <p:cNvSpPr/>
          <p:nvPr/>
        </p:nvSpPr>
        <p:spPr>
          <a:xfrm>
            <a:off x="7498080" y="2194560"/>
            <a:ext cx="3794760" cy="548640"/>
          </a:xfrm>
          <a:prstGeom prst="rect">
            <a:avLst/>
          </a:prstGeom>
          <a:noFill/>
          <a:ln/>
        </p:spPr>
        <p:txBody>
          <a:bodyPr wrap="square" lIns="91440" tIns="45720" rIns="91440" bIns="45720" rtlCol="0" anchor="ctr"/>
          <a:lstStyle/>
          <a:p>
            <a:pPr marL="0" indent="0">
              <a:buNone/>
            </a:pPr>
            <a:r>
              <a:rPr lang="en-US" sz="2000" b="1">
                <a:solidFill>
                  <a:srgbClr val="FFFFFF"/>
                </a:solidFill>
                <a:latin typeface="Georgia"/>
                <a:ea typeface="Georgia" pitchFamily="34" charset="-122"/>
                <a:cs typeface="Georgia" pitchFamily="34" charset="-120"/>
              </a:rPr>
              <a:t>Administrator</a:t>
            </a:r>
            <a:endParaRPr lang="en-US" sz="2000">
              <a:latin typeface="Georgia"/>
              <a:ea typeface="Calibri"/>
              <a:cs typeface="Calibri"/>
            </a:endParaRPr>
          </a:p>
        </p:txBody>
      </p:sp>
      <p:sp>
        <p:nvSpPr>
          <p:cNvPr id="20" name="Shape 16"/>
          <p:cNvSpPr/>
          <p:nvPr/>
        </p:nvSpPr>
        <p:spPr>
          <a:xfrm>
            <a:off x="6675120" y="3163824"/>
            <a:ext cx="128016" cy="128016"/>
          </a:xfrm>
          <a:prstGeom prst="ellipse">
            <a:avLst/>
          </a:prstGeom>
          <a:solidFill>
            <a:srgbClr val="E8734A"/>
          </a:solidFill>
          <a:ln/>
        </p:spPr>
      </p:sp>
      <p:sp>
        <p:nvSpPr>
          <p:cNvPr id="21" name="Text 17"/>
          <p:cNvSpPr/>
          <p:nvPr/>
        </p:nvSpPr>
        <p:spPr>
          <a:xfrm>
            <a:off x="6949440" y="3017520"/>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View all incoming complaints in one dashboard</a:t>
            </a:r>
            <a:endParaRPr lang="en-US" sz="1600">
              <a:ea typeface="Calibri"/>
              <a:cs typeface="Calibri"/>
            </a:endParaRPr>
          </a:p>
        </p:txBody>
      </p:sp>
      <p:sp>
        <p:nvSpPr>
          <p:cNvPr id="22" name="Shape 18"/>
          <p:cNvSpPr/>
          <p:nvPr/>
        </p:nvSpPr>
        <p:spPr>
          <a:xfrm>
            <a:off x="6675120" y="3822192"/>
            <a:ext cx="128016" cy="128016"/>
          </a:xfrm>
          <a:prstGeom prst="ellipse">
            <a:avLst/>
          </a:prstGeom>
          <a:solidFill>
            <a:srgbClr val="E8734A"/>
          </a:solidFill>
          <a:ln/>
        </p:spPr>
      </p:sp>
      <p:sp>
        <p:nvSpPr>
          <p:cNvPr id="23" name="Text 19"/>
          <p:cNvSpPr/>
          <p:nvPr/>
        </p:nvSpPr>
        <p:spPr>
          <a:xfrm>
            <a:off x="6949440" y="3675888"/>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Categorize and assign each complaint to the right owner</a:t>
            </a:r>
            <a:endParaRPr lang="en-US" sz="1600">
              <a:ea typeface="Calibri"/>
              <a:cs typeface="Calibri"/>
            </a:endParaRPr>
          </a:p>
        </p:txBody>
      </p:sp>
      <p:sp>
        <p:nvSpPr>
          <p:cNvPr id="24" name="Shape 20"/>
          <p:cNvSpPr/>
          <p:nvPr/>
        </p:nvSpPr>
        <p:spPr>
          <a:xfrm>
            <a:off x="6675120" y="4480560"/>
            <a:ext cx="128016" cy="128016"/>
          </a:xfrm>
          <a:prstGeom prst="ellipse">
            <a:avLst/>
          </a:prstGeom>
          <a:solidFill>
            <a:srgbClr val="E8734A"/>
          </a:solidFill>
          <a:ln/>
        </p:spPr>
      </p:sp>
      <p:sp>
        <p:nvSpPr>
          <p:cNvPr id="25" name="Text 21"/>
          <p:cNvSpPr/>
          <p:nvPr/>
        </p:nvSpPr>
        <p:spPr>
          <a:xfrm>
            <a:off x="6949440" y="4334256"/>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Update status as the complaint moves toward resolution</a:t>
            </a:r>
            <a:endParaRPr lang="en-US" sz="1600">
              <a:ea typeface="Calibri"/>
              <a:cs typeface="Calibri"/>
            </a:endParaRPr>
          </a:p>
        </p:txBody>
      </p:sp>
      <p:sp>
        <p:nvSpPr>
          <p:cNvPr id="26" name="Shape 22"/>
          <p:cNvSpPr/>
          <p:nvPr/>
        </p:nvSpPr>
        <p:spPr>
          <a:xfrm>
            <a:off x="6675120" y="5138928"/>
            <a:ext cx="128016" cy="128016"/>
          </a:xfrm>
          <a:prstGeom prst="ellipse">
            <a:avLst/>
          </a:prstGeom>
          <a:solidFill>
            <a:srgbClr val="E8734A"/>
          </a:solidFill>
          <a:ln/>
        </p:spPr>
      </p:sp>
      <p:sp>
        <p:nvSpPr>
          <p:cNvPr id="27" name="Text 23"/>
          <p:cNvSpPr/>
          <p:nvPr/>
        </p:nvSpPr>
        <p:spPr>
          <a:xfrm>
            <a:off x="6949440" y="4992624"/>
            <a:ext cx="4251960" cy="548640"/>
          </a:xfrm>
          <a:prstGeom prst="rect">
            <a:avLst/>
          </a:prstGeom>
          <a:noFill/>
          <a:ln/>
        </p:spPr>
        <p:txBody>
          <a:bodyPr wrap="square" lIns="91440" tIns="45720" rIns="91440" bIns="45720" rtlCol="0" anchor="t"/>
          <a:lstStyle/>
          <a:p>
            <a:pPr marL="0" indent="0">
              <a:buNone/>
            </a:pPr>
            <a:r>
              <a:rPr lang="en-US" sz="1600">
                <a:solidFill>
                  <a:srgbClr val="E4EAF1"/>
                </a:solidFill>
              </a:rPr>
              <a:t>Generate reports to spot recurring issues</a:t>
            </a:r>
            <a:endParaRPr lang="en-US" sz="1600">
              <a:ea typeface="Calibri"/>
              <a:cs typeface="Calibri"/>
            </a:endParaRPr>
          </a:p>
        </p:txBody>
      </p:sp>
      <p:sp>
        <p:nvSpPr>
          <p:cNvPr id="28" name="Text 24"/>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9" name="Text 25"/>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5</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HOW IT WORKS</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The complaint lifecycle</a:t>
            </a:r>
            <a:endParaRPr lang="en-US" sz="2700"/>
          </a:p>
        </p:txBody>
      </p:sp>
      <p:sp>
        <p:nvSpPr>
          <p:cNvPr id="4" name="Shape 2"/>
          <p:cNvSpPr/>
          <p:nvPr/>
        </p:nvSpPr>
        <p:spPr>
          <a:xfrm>
            <a:off x="1356360" y="2788920"/>
            <a:ext cx="9171432" cy="0"/>
          </a:xfrm>
          <a:prstGeom prst="line">
            <a:avLst/>
          </a:prstGeom>
          <a:noFill/>
          <a:ln w="25400">
            <a:solidFill>
              <a:srgbClr val="D8DEE5"/>
            </a:solidFill>
            <a:prstDash val="dash"/>
          </a:ln>
        </p:spPr>
      </p:sp>
      <p:sp>
        <p:nvSpPr>
          <p:cNvPr id="5" name="Shape 3"/>
          <p:cNvSpPr/>
          <p:nvPr/>
        </p:nvSpPr>
        <p:spPr>
          <a:xfrm>
            <a:off x="853440" y="1920240"/>
            <a:ext cx="1005840" cy="1005840"/>
          </a:xfrm>
          <a:prstGeom prst="ellipse">
            <a:avLst/>
          </a:prstGeom>
          <a:solidFill>
            <a:srgbClr val="94A3B8"/>
          </a:solidFill>
          <a:ln/>
          <a:effectLst>
            <a:outerShdw blurRad="63500" dist="25400" dir="5400000" algn="bl" rotWithShape="0">
              <a:srgbClr val="1E2A38">
                <a:alpha val="18000"/>
              </a:srgbClr>
            </a:outerShdw>
          </a:effectLst>
        </p:spPr>
      </p:sp>
      <p:pic>
        <p:nvPicPr>
          <p:cNvPr id="6" name="Image 0" descr="icon_inbox_FFFFFF.png"/>
          <p:cNvPicPr>
            <a:picLocks noChangeAspect="1"/>
          </p:cNvPicPr>
          <p:nvPr/>
        </p:nvPicPr>
        <p:blipFill>
          <a:blip r:embed="rId3"/>
          <a:stretch>
            <a:fillRect/>
          </a:stretch>
        </p:blipFill>
        <p:spPr>
          <a:xfrm>
            <a:off x="1082040" y="2148840"/>
            <a:ext cx="548640" cy="548640"/>
          </a:xfrm>
          <a:prstGeom prst="rect">
            <a:avLst/>
          </a:prstGeom>
        </p:spPr>
      </p:pic>
      <p:sp>
        <p:nvSpPr>
          <p:cNvPr id="7" name="Text 4"/>
          <p:cNvSpPr/>
          <p:nvPr/>
        </p:nvSpPr>
        <p:spPr>
          <a:xfrm>
            <a:off x="487680"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Registered</a:t>
            </a:r>
            <a:endParaRPr lang="en-US" sz="1600">
              <a:latin typeface="Georgia"/>
              <a:ea typeface="Calibri"/>
              <a:cs typeface="Calibri"/>
            </a:endParaRPr>
          </a:p>
        </p:txBody>
      </p:sp>
      <p:sp>
        <p:nvSpPr>
          <p:cNvPr id="8" name="Text 5"/>
          <p:cNvSpPr/>
          <p:nvPr/>
        </p:nvSpPr>
        <p:spPr>
          <a:xfrm>
            <a:off x="497840" y="3675888"/>
            <a:ext cx="1737360" cy="548640"/>
          </a:xfrm>
          <a:prstGeom prst="rect">
            <a:avLst/>
          </a:prstGeom>
          <a:noFill/>
          <a:ln/>
        </p:spPr>
        <p:txBody>
          <a:bodyPr wrap="square" lIns="91440" tIns="45720" rIns="91440" bIns="45720" rtlCol="0" anchor="ctr"/>
          <a:lstStyle/>
          <a:p>
            <a:pPr algn="ctr"/>
            <a:r>
              <a:rPr lang="en-US" sz="2400">
                <a:solidFill>
                  <a:schemeClr val="accent1">
                    <a:lumMod val="49000"/>
                  </a:schemeClr>
                </a:solidFill>
              </a:rPr>
              <a:t>Customer submits, ID generated</a:t>
            </a:r>
            <a:endParaRPr lang="en-US" sz="2400">
              <a:solidFill>
                <a:schemeClr val="accent1">
                  <a:lumMod val="49000"/>
                </a:schemeClr>
              </a:solidFill>
              <a:ea typeface="Calibri"/>
              <a:cs typeface="Calibri"/>
            </a:endParaRPr>
          </a:p>
        </p:txBody>
      </p:sp>
      <p:sp>
        <p:nvSpPr>
          <p:cNvPr id="9" name="Shape 6"/>
          <p:cNvSpPr/>
          <p:nvPr/>
        </p:nvSpPr>
        <p:spPr>
          <a:xfrm rot="5400000">
            <a:off x="2420493" y="2706624"/>
            <a:ext cx="164592" cy="164592"/>
          </a:xfrm>
          <a:prstGeom prst="triangle">
            <a:avLst/>
          </a:prstGeom>
          <a:solidFill>
            <a:srgbClr val="94A3B8"/>
          </a:solidFill>
          <a:ln/>
        </p:spPr>
      </p:sp>
      <p:sp>
        <p:nvSpPr>
          <p:cNvPr id="10" name="Shape 7"/>
          <p:cNvSpPr/>
          <p:nvPr/>
        </p:nvSpPr>
        <p:spPr>
          <a:xfrm>
            <a:off x="3146298" y="1920240"/>
            <a:ext cx="1005840" cy="1005840"/>
          </a:xfrm>
          <a:prstGeom prst="ellipse">
            <a:avLst/>
          </a:prstGeom>
          <a:solidFill>
            <a:srgbClr val="E8734A"/>
          </a:solidFill>
          <a:ln/>
          <a:effectLst>
            <a:outerShdw blurRad="63500" dist="25400" dir="5400000" algn="bl" rotWithShape="0">
              <a:srgbClr val="1E2A38">
                <a:alpha val="18000"/>
              </a:srgbClr>
            </a:outerShdw>
          </a:effectLst>
        </p:spPr>
      </p:sp>
      <p:pic>
        <p:nvPicPr>
          <p:cNvPr id="11" name="Image 1" descr="icon_flag_FFFFFF.png"/>
          <p:cNvPicPr>
            <a:picLocks noChangeAspect="1"/>
          </p:cNvPicPr>
          <p:nvPr/>
        </p:nvPicPr>
        <p:blipFill>
          <a:blip r:embed="rId4"/>
          <a:stretch>
            <a:fillRect/>
          </a:stretch>
        </p:blipFill>
        <p:spPr>
          <a:xfrm>
            <a:off x="3374898" y="2148840"/>
            <a:ext cx="548640" cy="548640"/>
          </a:xfrm>
          <a:prstGeom prst="rect">
            <a:avLst/>
          </a:prstGeom>
        </p:spPr>
      </p:pic>
      <p:sp>
        <p:nvSpPr>
          <p:cNvPr id="12" name="Text 8"/>
          <p:cNvSpPr/>
          <p:nvPr/>
        </p:nvSpPr>
        <p:spPr>
          <a:xfrm>
            <a:off x="2780538"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Categorized</a:t>
            </a:r>
            <a:endParaRPr lang="en-US" sz="1600">
              <a:latin typeface="Georgia"/>
            </a:endParaRPr>
          </a:p>
        </p:txBody>
      </p:sp>
      <p:sp>
        <p:nvSpPr>
          <p:cNvPr id="13" name="Text 9"/>
          <p:cNvSpPr/>
          <p:nvPr/>
        </p:nvSpPr>
        <p:spPr>
          <a:xfrm>
            <a:off x="2780538" y="3675888"/>
            <a:ext cx="1737360" cy="548640"/>
          </a:xfrm>
          <a:prstGeom prst="rect">
            <a:avLst/>
          </a:prstGeom>
          <a:noFill/>
          <a:ln/>
        </p:spPr>
        <p:txBody>
          <a:bodyPr wrap="square" lIns="91440" tIns="45720" rIns="91440" bIns="45720" rtlCol="0" anchor="ctr"/>
          <a:lstStyle/>
          <a:p>
            <a:pPr marL="0" indent="0" algn="ctr">
              <a:buNone/>
            </a:pPr>
            <a:r>
              <a:rPr lang="en-US" sz="2400">
                <a:solidFill>
                  <a:schemeClr val="accent1">
                    <a:lumMod val="49000"/>
                  </a:schemeClr>
                </a:solidFill>
              </a:rPr>
              <a:t>Admin reviews and tags it</a:t>
            </a:r>
            <a:endParaRPr lang="en-US" sz="2400">
              <a:solidFill>
                <a:schemeClr val="accent1">
                  <a:lumMod val="49000"/>
                </a:schemeClr>
              </a:solidFill>
              <a:ea typeface="Calibri"/>
              <a:cs typeface="Calibri"/>
            </a:endParaRPr>
          </a:p>
        </p:txBody>
      </p:sp>
      <p:sp>
        <p:nvSpPr>
          <p:cNvPr id="14" name="Shape 10"/>
          <p:cNvSpPr/>
          <p:nvPr/>
        </p:nvSpPr>
        <p:spPr>
          <a:xfrm rot="5400000">
            <a:off x="4713351" y="2706624"/>
            <a:ext cx="164592" cy="164592"/>
          </a:xfrm>
          <a:prstGeom prst="triangle">
            <a:avLst/>
          </a:prstGeom>
          <a:solidFill>
            <a:srgbClr val="94A3B8"/>
          </a:solidFill>
          <a:ln/>
        </p:spPr>
      </p:sp>
      <p:sp>
        <p:nvSpPr>
          <p:cNvPr id="15" name="Shape 11"/>
          <p:cNvSpPr/>
          <p:nvPr/>
        </p:nvSpPr>
        <p:spPr>
          <a:xfrm>
            <a:off x="5439156" y="1920240"/>
            <a:ext cx="1005840" cy="1005840"/>
          </a:xfrm>
          <a:prstGeom prst="ellipse">
            <a:avLst/>
          </a:prstGeom>
          <a:solidFill>
            <a:srgbClr val="1F3A5F"/>
          </a:solidFill>
          <a:ln/>
          <a:effectLst>
            <a:outerShdw blurRad="63500" dist="25400" dir="5400000" algn="bl" rotWithShape="0">
              <a:srgbClr val="1E2A38">
                <a:alpha val="18000"/>
              </a:srgbClr>
            </a:outerShdw>
          </a:effectLst>
        </p:spPr>
      </p:sp>
      <p:pic>
        <p:nvPicPr>
          <p:cNvPr id="16" name="Image 2" descr="icon_usercheck_FFFFFF.png"/>
          <p:cNvPicPr>
            <a:picLocks noChangeAspect="1"/>
          </p:cNvPicPr>
          <p:nvPr/>
        </p:nvPicPr>
        <p:blipFill>
          <a:blip r:embed="rId5"/>
          <a:stretch>
            <a:fillRect/>
          </a:stretch>
        </p:blipFill>
        <p:spPr>
          <a:xfrm>
            <a:off x="5667756" y="2148840"/>
            <a:ext cx="548640" cy="548640"/>
          </a:xfrm>
          <a:prstGeom prst="rect">
            <a:avLst/>
          </a:prstGeom>
        </p:spPr>
      </p:pic>
      <p:sp>
        <p:nvSpPr>
          <p:cNvPr id="17" name="Text 12"/>
          <p:cNvSpPr/>
          <p:nvPr/>
        </p:nvSpPr>
        <p:spPr>
          <a:xfrm>
            <a:off x="5073396"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Assigned</a:t>
            </a:r>
            <a:endParaRPr lang="en-US" sz="1600">
              <a:latin typeface="Georgia"/>
            </a:endParaRPr>
          </a:p>
        </p:txBody>
      </p:sp>
      <p:sp>
        <p:nvSpPr>
          <p:cNvPr id="18" name="Text 13"/>
          <p:cNvSpPr/>
          <p:nvPr/>
        </p:nvSpPr>
        <p:spPr>
          <a:xfrm>
            <a:off x="5073396" y="3675888"/>
            <a:ext cx="1737360" cy="548640"/>
          </a:xfrm>
          <a:prstGeom prst="rect">
            <a:avLst/>
          </a:prstGeom>
          <a:noFill/>
          <a:ln/>
        </p:spPr>
        <p:txBody>
          <a:bodyPr wrap="square" lIns="91440" tIns="45720" rIns="91440" bIns="45720" rtlCol="0" anchor="ctr"/>
          <a:lstStyle/>
          <a:p>
            <a:pPr marL="0" indent="0" algn="ctr">
              <a:buNone/>
            </a:pPr>
            <a:r>
              <a:rPr lang="en-US" sz="2400">
                <a:solidFill>
                  <a:schemeClr val="accent1">
                    <a:lumMod val="49000"/>
                  </a:schemeClr>
                </a:solidFill>
              </a:rPr>
              <a:t>Routed to the right owner</a:t>
            </a:r>
            <a:endParaRPr lang="en-US" sz="2400">
              <a:solidFill>
                <a:schemeClr val="accent1">
                  <a:lumMod val="49000"/>
                </a:schemeClr>
              </a:solidFill>
              <a:ea typeface="Calibri"/>
              <a:cs typeface="Calibri"/>
            </a:endParaRPr>
          </a:p>
        </p:txBody>
      </p:sp>
      <p:sp>
        <p:nvSpPr>
          <p:cNvPr id="19" name="Shape 14"/>
          <p:cNvSpPr/>
          <p:nvPr/>
        </p:nvSpPr>
        <p:spPr>
          <a:xfrm rot="5400000">
            <a:off x="7006209" y="2706624"/>
            <a:ext cx="164592" cy="164592"/>
          </a:xfrm>
          <a:prstGeom prst="triangle">
            <a:avLst/>
          </a:prstGeom>
          <a:solidFill>
            <a:srgbClr val="94A3B8"/>
          </a:solidFill>
          <a:ln/>
        </p:spPr>
      </p:sp>
      <p:sp>
        <p:nvSpPr>
          <p:cNvPr id="20" name="Shape 15"/>
          <p:cNvSpPr/>
          <p:nvPr/>
        </p:nvSpPr>
        <p:spPr>
          <a:xfrm>
            <a:off x="7732014" y="1920240"/>
            <a:ext cx="1005840" cy="1005840"/>
          </a:xfrm>
          <a:prstGeom prst="ellipse">
            <a:avLst/>
          </a:prstGeom>
          <a:solidFill>
            <a:srgbClr val="3E6FA8"/>
          </a:solidFill>
          <a:ln/>
          <a:effectLst>
            <a:outerShdw blurRad="63500" dist="25400" dir="5400000" algn="bl" rotWithShape="0">
              <a:srgbClr val="1E2A38">
                <a:alpha val="18000"/>
              </a:srgbClr>
            </a:outerShdw>
          </a:effectLst>
        </p:spPr>
      </p:sp>
      <p:pic>
        <p:nvPicPr>
          <p:cNvPr id="21" name="Image 3" descr="icon_clock_FFFFFF.png"/>
          <p:cNvPicPr>
            <a:picLocks noChangeAspect="1"/>
          </p:cNvPicPr>
          <p:nvPr/>
        </p:nvPicPr>
        <p:blipFill>
          <a:blip r:embed="rId6"/>
          <a:stretch>
            <a:fillRect/>
          </a:stretch>
        </p:blipFill>
        <p:spPr>
          <a:xfrm>
            <a:off x="7960614" y="2148840"/>
            <a:ext cx="548640" cy="548640"/>
          </a:xfrm>
          <a:prstGeom prst="rect">
            <a:avLst/>
          </a:prstGeom>
        </p:spPr>
      </p:pic>
      <p:sp>
        <p:nvSpPr>
          <p:cNvPr id="22" name="Text 16"/>
          <p:cNvSpPr/>
          <p:nvPr/>
        </p:nvSpPr>
        <p:spPr>
          <a:xfrm>
            <a:off x="7366254"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In Progress</a:t>
            </a:r>
            <a:endParaRPr lang="en-US" sz="1600">
              <a:latin typeface="Georgia"/>
              <a:ea typeface="Calibri"/>
              <a:cs typeface="Calibri"/>
            </a:endParaRPr>
          </a:p>
        </p:txBody>
      </p:sp>
      <p:sp>
        <p:nvSpPr>
          <p:cNvPr id="23" name="Text 17"/>
          <p:cNvSpPr/>
          <p:nvPr/>
        </p:nvSpPr>
        <p:spPr>
          <a:xfrm>
            <a:off x="7366254" y="3675888"/>
            <a:ext cx="1737360" cy="548640"/>
          </a:xfrm>
          <a:prstGeom prst="rect">
            <a:avLst/>
          </a:prstGeom>
          <a:noFill/>
          <a:ln/>
        </p:spPr>
        <p:txBody>
          <a:bodyPr wrap="square" lIns="91440" tIns="45720" rIns="91440" bIns="45720" rtlCol="0" anchor="ctr"/>
          <a:lstStyle/>
          <a:p>
            <a:pPr marL="0" indent="0" algn="ctr">
              <a:buNone/>
            </a:pPr>
            <a:r>
              <a:rPr lang="en-US" sz="2000">
                <a:solidFill>
                  <a:schemeClr val="accent1">
                    <a:lumMod val="49000"/>
                  </a:schemeClr>
                </a:solidFill>
              </a:rPr>
              <a:t>Status updated as work happens</a:t>
            </a:r>
            <a:endParaRPr lang="en-US" sz="2000">
              <a:solidFill>
                <a:schemeClr val="accent1">
                  <a:lumMod val="49000"/>
                </a:schemeClr>
              </a:solidFill>
              <a:ea typeface="Calibri"/>
              <a:cs typeface="Calibri"/>
            </a:endParaRPr>
          </a:p>
        </p:txBody>
      </p:sp>
      <p:sp>
        <p:nvSpPr>
          <p:cNvPr id="24" name="Shape 18"/>
          <p:cNvSpPr/>
          <p:nvPr/>
        </p:nvSpPr>
        <p:spPr>
          <a:xfrm rot="5400000">
            <a:off x="9299067" y="2706624"/>
            <a:ext cx="164592" cy="164592"/>
          </a:xfrm>
          <a:prstGeom prst="triangle">
            <a:avLst/>
          </a:prstGeom>
          <a:solidFill>
            <a:srgbClr val="94A3B8"/>
          </a:solidFill>
          <a:ln/>
        </p:spPr>
      </p:sp>
      <p:sp>
        <p:nvSpPr>
          <p:cNvPr id="25" name="Shape 19"/>
          <p:cNvSpPr/>
          <p:nvPr/>
        </p:nvSpPr>
        <p:spPr>
          <a:xfrm>
            <a:off x="10024872" y="1920240"/>
            <a:ext cx="1005840" cy="1005840"/>
          </a:xfrm>
          <a:prstGeom prst="ellipse">
            <a:avLst/>
          </a:prstGeom>
          <a:solidFill>
            <a:srgbClr val="2E7D6B"/>
          </a:solidFill>
          <a:ln/>
          <a:effectLst>
            <a:outerShdw blurRad="63500" dist="25400" dir="5400000" algn="bl" rotWithShape="0">
              <a:srgbClr val="1E2A38">
                <a:alpha val="18000"/>
              </a:srgbClr>
            </a:outerShdw>
          </a:effectLst>
        </p:spPr>
      </p:sp>
      <p:pic>
        <p:nvPicPr>
          <p:cNvPr id="26" name="Image 4" descr="icon_check_FFFFFF.png"/>
          <p:cNvPicPr>
            <a:picLocks noChangeAspect="1"/>
          </p:cNvPicPr>
          <p:nvPr/>
        </p:nvPicPr>
        <p:blipFill>
          <a:blip r:embed="rId7"/>
          <a:stretch>
            <a:fillRect/>
          </a:stretch>
        </p:blipFill>
        <p:spPr>
          <a:xfrm>
            <a:off x="10253472" y="2148840"/>
            <a:ext cx="548640" cy="548640"/>
          </a:xfrm>
          <a:prstGeom prst="rect">
            <a:avLst/>
          </a:prstGeom>
        </p:spPr>
      </p:pic>
      <p:sp>
        <p:nvSpPr>
          <p:cNvPr id="27" name="Text 20"/>
          <p:cNvSpPr/>
          <p:nvPr/>
        </p:nvSpPr>
        <p:spPr>
          <a:xfrm>
            <a:off x="9659112" y="3063240"/>
            <a:ext cx="1737360" cy="365760"/>
          </a:xfrm>
          <a:prstGeom prst="rect">
            <a:avLst/>
          </a:prstGeom>
          <a:noFill/>
          <a:ln/>
        </p:spPr>
        <p:txBody>
          <a:bodyPr wrap="square" lIns="91440" tIns="45720" rIns="91440" bIns="45720" rtlCol="0" anchor="ctr"/>
          <a:lstStyle/>
          <a:p>
            <a:pPr marL="0" indent="0" algn="ctr">
              <a:buNone/>
            </a:pPr>
            <a:r>
              <a:rPr lang="en-US" sz="1600" b="1">
                <a:solidFill>
                  <a:srgbClr val="1E2A38"/>
                </a:solidFill>
                <a:latin typeface="Georgia"/>
                <a:ea typeface="Georgia" pitchFamily="34" charset="-122"/>
                <a:cs typeface="Georgia" pitchFamily="34" charset="-120"/>
              </a:rPr>
              <a:t>Resolved</a:t>
            </a:r>
            <a:endParaRPr lang="en-US" sz="1600">
              <a:latin typeface="Georgia"/>
            </a:endParaRPr>
          </a:p>
        </p:txBody>
      </p:sp>
      <p:sp>
        <p:nvSpPr>
          <p:cNvPr id="28" name="Text 21"/>
          <p:cNvSpPr/>
          <p:nvPr/>
        </p:nvSpPr>
        <p:spPr>
          <a:xfrm>
            <a:off x="9659112" y="3584448"/>
            <a:ext cx="1737360" cy="548640"/>
          </a:xfrm>
          <a:prstGeom prst="rect">
            <a:avLst/>
          </a:prstGeom>
          <a:noFill/>
          <a:ln/>
        </p:spPr>
        <p:txBody>
          <a:bodyPr wrap="square" lIns="91440" tIns="45720" rIns="91440" bIns="45720" rtlCol="0" anchor="ctr"/>
          <a:lstStyle/>
          <a:p>
            <a:pPr marL="0" indent="0" algn="ctr">
              <a:buNone/>
            </a:pPr>
            <a:r>
              <a:rPr lang="en-US" sz="2400">
                <a:solidFill>
                  <a:srgbClr val="5C6B7A"/>
                </a:solidFill>
              </a:rPr>
              <a:t>Customer notified of outcome</a:t>
            </a:r>
            <a:endParaRPr lang="en-US" sz="2400">
              <a:ea typeface="Calibri"/>
              <a:cs typeface="Calibri"/>
            </a:endParaRPr>
          </a:p>
        </p:txBody>
      </p:sp>
      <p:sp>
        <p:nvSpPr>
          <p:cNvPr id="29" name="Text 22"/>
          <p:cNvSpPr/>
          <p:nvPr/>
        </p:nvSpPr>
        <p:spPr>
          <a:xfrm>
            <a:off x="518160" y="4861560"/>
            <a:ext cx="10515600" cy="457200"/>
          </a:xfrm>
          <a:prstGeom prst="rect">
            <a:avLst/>
          </a:prstGeom>
          <a:noFill/>
          <a:ln/>
        </p:spPr>
        <p:txBody>
          <a:bodyPr wrap="square" lIns="91440" tIns="45720" rIns="91440" bIns="45720" rtlCol="0" anchor="ctr"/>
          <a:lstStyle/>
          <a:p>
            <a:pPr marL="0" indent="0">
              <a:buNone/>
            </a:pPr>
            <a:r>
              <a:rPr lang="en-US" sz="2800" i="1">
                <a:solidFill>
                  <a:schemeClr val="accent1">
                    <a:lumMod val="49000"/>
                  </a:schemeClr>
                </a:solidFill>
              </a:rPr>
              <a:t>Every status change is timestamped, keeping the full history available for search and reportin</a:t>
            </a:r>
            <a:r>
              <a:rPr lang="en-US" sz="1200" i="1">
                <a:solidFill>
                  <a:srgbClr val="5C6B7A"/>
                </a:solidFill>
              </a:rPr>
              <a:t>g.</a:t>
            </a:r>
            <a:endParaRPr lang="en-US" sz="1200"/>
          </a:p>
        </p:txBody>
      </p:sp>
      <p:sp>
        <p:nvSpPr>
          <p:cNvPr id="30" name="Text 23"/>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31" name="Text 24"/>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UNDER THE HOOD</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FFFFFF"/>
                </a:solidFill>
                <a:latin typeface="Georgia" pitchFamily="34" charset="0"/>
                <a:ea typeface="Georgia" pitchFamily="34" charset="-122"/>
                <a:cs typeface="Georgia" pitchFamily="34" charset="-120"/>
              </a:rPr>
              <a:t>Every complaint, uniquely tracked</a:t>
            </a:r>
            <a:endParaRPr lang="en-US" sz="2700"/>
          </a:p>
        </p:txBody>
      </p:sp>
      <p:sp>
        <p:nvSpPr>
          <p:cNvPr id="4" name="Text 2"/>
          <p:cNvSpPr/>
          <p:nvPr/>
        </p:nvSpPr>
        <p:spPr>
          <a:xfrm>
            <a:off x="640080" y="1508760"/>
            <a:ext cx="9875520" cy="640080"/>
          </a:xfrm>
          <a:prstGeom prst="rect">
            <a:avLst/>
          </a:prstGeom>
          <a:noFill/>
          <a:ln/>
        </p:spPr>
        <p:txBody>
          <a:bodyPr wrap="square" lIns="91440" tIns="45720" rIns="91440" bIns="45720" rtlCol="0" anchor="ctr"/>
          <a:lstStyle/>
          <a:p>
            <a:pPr marL="0" indent="0">
              <a:buNone/>
            </a:pPr>
            <a:r>
              <a:rPr lang="en-US">
                <a:solidFill>
                  <a:srgbClr val="C9D6E3"/>
                </a:solidFill>
              </a:rPr>
              <a:t>Each complaint is assigned a unique tracking ID the moment it's registered, then stored securely in a database — so any record can be found and verified in seconds.</a:t>
            </a:r>
            <a:endParaRPr lang="en-US">
              <a:ea typeface="Calibri"/>
              <a:cs typeface="Calibri"/>
            </a:endParaRPr>
          </a:p>
        </p:txBody>
      </p:sp>
      <p:sp>
        <p:nvSpPr>
          <p:cNvPr id="5" name="Shape 3"/>
          <p:cNvSpPr/>
          <p:nvPr/>
        </p:nvSpPr>
        <p:spPr>
          <a:xfrm>
            <a:off x="640080" y="2423160"/>
            <a:ext cx="2542032" cy="3108960"/>
          </a:xfrm>
          <a:prstGeom prst="roundRect">
            <a:avLst>
              <a:gd name="adj" fmla="val 3237"/>
            </a:avLst>
          </a:prstGeom>
          <a:solidFill>
            <a:srgbClr val="294B76"/>
          </a:solidFill>
          <a:ln/>
        </p:spPr>
      </p:sp>
      <p:pic>
        <p:nvPicPr>
          <p:cNvPr id="6" name="Image 0" descr="icon_database_E8734A.png"/>
          <p:cNvPicPr>
            <a:picLocks noChangeAspect="1"/>
          </p:cNvPicPr>
          <p:nvPr/>
        </p:nvPicPr>
        <p:blipFill>
          <a:blip r:embed="rId3"/>
          <a:stretch>
            <a:fillRect/>
          </a:stretch>
        </p:blipFill>
        <p:spPr>
          <a:xfrm>
            <a:off x="859536" y="2697480"/>
            <a:ext cx="457200" cy="457200"/>
          </a:xfrm>
          <a:prstGeom prst="rect">
            <a:avLst/>
          </a:prstGeom>
        </p:spPr>
      </p:pic>
      <p:sp>
        <p:nvSpPr>
          <p:cNvPr id="7" name="Text 4"/>
          <p:cNvSpPr/>
          <p:nvPr/>
        </p:nvSpPr>
        <p:spPr>
          <a:xfrm>
            <a:off x="859536" y="3337560"/>
            <a:ext cx="2103120" cy="457200"/>
          </a:xfrm>
          <a:prstGeom prst="rect">
            <a:avLst/>
          </a:prstGeom>
          <a:noFill/>
          <a:ln/>
        </p:spPr>
        <p:txBody>
          <a:bodyPr wrap="square" lIns="91440" tIns="45720" rIns="91440" bIns="45720" rtlCol="0" anchor="ctr"/>
          <a:lstStyle/>
          <a:p>
            <a:pPr marL="0" indent="0">
              <a:buNone/>
            </a:pPr>
            <a:r>
              <a:rPr lang="en-US" sz="2000" b="1">
                <a:solidFill>
                  <a:srgbClr val="FFFFFF"/>
                </a:solidFill>
                <a:latin typeface="Georgia"/>
                <a:ea typeface="Georgia" pitchFamily="34" charset="-122"/>
                <a:cs typeface="Georgia" pitchFamily="34" charset="-120"/>
              </a:rPr>
              <a:t>Secure storage</a:t>
            </a:r>
            <a:endParaRPr lang="en-US" sz="2000">
              <a:latin typeface="Georgia"/>
              <a:ea typeface="Calibri"/>
              <a:cs typeface="Calibri"/>
            </a:endParaRPr>
          </a:p>
        </p:txBody>
      </p:sp>
      <p:sp>
        <p:nvSpPr>
          <p:cNvPr id="8" name="Text 5"/>
          <p:cNvSpPr/>
          <p:nvPr/>
        </p:nvSpPr>
        <p:spPr>
          <a:xfrm>
            <a:off x="859536" y="3794760"/>
            <a:ext cx="2103120" cy="1554480"/>
          </a:xfrm>
          <a:prstGeom prst="rect">
            <a:avLst/>
          </a:prstGeom>
          <a:noFill/>
          <a:ln/>
        </p:spPr>
        <p:txBody>
          <a:bodyPr wrap="square" lIns="91440" tIns="45720" rIns="91440" bIns="45720" rtlCol="0" anchor="t"/>
          <a:lstStyle/>
          <a:p>
            <a:pPr marL="0" indent="0">
              <a:buNone/>
            </a:pPr>
            <a:r>
              <a:rPr lang="en-US">
                <a:solidFill>
                  <a:schemeClr val="tx1">
                    <a:lumMod val="95000"/>
                    <a:lumOff val="5000"/>
                  </a:schemeClr>
                </a:solidFill>
              </a:rPr>
              <a:t>Every complaint record — details, status, and history — is stored in a structured database.</a:t>
            </a:r>
            <a:endParaRPr lang="en-US">
              <a:solidFill>
                <a:schemeClr val="tx1">
                  <a:lumMod val="95000"/>
                  <a:lumOff val="5000"/>
                </a:schemeClr>
              </a:solidFill>
              <a:ea typeface="Calibri"/>
              <a:cs typeface="Calibri"/>
            </a:endParaRPr>
          </a:p>
        </p:txBody>
      </p:sp>
      <p:sp>
        <p:nvSpPr>
          <p:cNvPr id="9" name="Shape 6"/>
          <p:cNvSpPr/>
          <p:nvPr/>
        </p:nvSpPr>
        <p:spPr>
          <a:xfrm>
            <a:off x="3438144" y="2423160"/>
            <a:ext cx="2542032" cy="3108960"/>
          </a:xfrm>
          <a:prstGeom prst="roundRect">
            <a:avLst>
              <a:gd name="adj" fmla="val 3237"/>
            </a:avLst>
          </a:prstGeom>
          <a:solidFill>
            <a:srgbClr val="294B76"/>
          </a:solidFill>
          <a:ln/>
        </p:spPr>
      </p:sp>
      <p:pic>
        <p:nvPicPr>
          <p:cNvPr id="10" name="Image 1" descr="icon_target_E8734A.png"/>
          <p:cNvPicPr>
            <a:picLocks noChangeAspect="1"/>
          </p:cNvPicPr>
          <p:nvPr/>
        </p:nvPicPr>
        <p:blipFill>
          <a:blip r:embed="rId4"/>
          <a:stretch>
            <a:fillRect/>
          </a:stretch>
        </p:blipFill>
        <p:spPr>
          <a:xfrm>
            <a:off x="3657600" y="2697480"/>
            <a:ext cx="457200" cy="457200"/>
          </a:xfrm>
          <a:prstGeom prst="rect">
            <a:avLst/>
          </a:prstGeom>
        </p:spPr>
      </p:pic>
      <p:sp>
        <p:nvSpPr>
          <p:cNvPr id="11" name="Text 7"/>
          <p:cNvSpPr/>
          <p:nvPr/>
        </p:nvSpPr>
        <p:spPr>
          <a:xfrm>
            <a:off x="3657600" y="3337560"/>
            <a:ext cx="2103120" cy="457200"/>
          </a:xfrm>
          <a:prstGeom prst="rect">
            <a:avLst/>
          </a:prstGeom>
          <a:noFill/>
          <a:ln/>
        </p:spPr>
        <p:txBody>
          <a:bodyPr wrap="square" lIns="91440" tIns="45720" rIns="91440" bIns="45720" rtlCol="0" anchor="ctr"/>
          <a:lstStyle/>
          <a:p>
            <a:pPr marL="0" indent="0">
              <a:buNone/>
            </a:pPr>
            <a:r>
              <a:rPr lang="en-US" b="1">
                <a:solidFill>
                  <a:srgbClr val="FFFFFF"/>
                </a:solidFill>
                <a:latin typeface="Georgia"/>
                <a:ea typeface="Georgia" pitchFamily="34" charset="-122"/>
                <a:cs typeface="Georgia" pitchFamily="34" charset="-120"/>
              </a:rPr>
              <a:t>Unique tracking ID</a:t>
            </a:r>
            <a:endParaRPr lang="en-US">
              <a:latin typeface="Georgia"/>
              <a:ea typeface="Calibri"/>
              <a:cs typeface="Calibri"/>
            </a:endParaRPr>
          </a:p>
        </p:txBody>
      </p:sp>
      <p:sp>
        <p:nvSpPr>
          <p:cNvPr id="12" name="Text 8"/>
          <p:cNvSpPr/>
          <p:nvPr/>
        </p:nvSpPr>
        <p:spPr>
          <a:xfrm>
            <a:off x="3657600" y="3794760"/>
            <a:ext cx="2103120" cy="1554480"/>
          </a:xfrm>
          <a:prstGeom prst="rect">
            <a:avLst/>
          </a:prstGeom>
          <a:noFill/>
          <a:ln/>
        </p:spPr>
        <p:txBody>
          <a:bodyPr wrap="square" lIns="91440" tIns="45720" rIns="91440" bIns="45720" rtlCol="0" anchor="t"/>
          <a:lstStyle/>
          <a:p>
            <a:pPr marL="0" indent="0">
              <a:buNone/>
            </a:pPr>
            <a:r>
              <a:rPr lang="en-US">
                <a:solidFill>
                  <a:schemeClr val="tx1">
                    <a:lumMod val="95000"/>
                    <a:lumOff val="5000"/>
                  </a:schemeClr>
                </a:solidFill>
              </a:rPr>
              <a:t>A distinct ID is generated per complaint, giving customers and admins one reference point.</a:t>
            </a:r>
            <a:endParaRPr lang="en-US">
              <a:solidFill>
                <a:schemeClr val="tx1">
                  <a:lumMod val="95000"/>
                  <a:lumOff val="5000"/>
                </a:schemeClr>
              </a:solidFill>
              <a:ea typeface="Calibri"/>
              <a:cs typeface="Calibri"/>
            </a:endParaRPr>
          </a:p>
        </p:txBody>
      </p:sp>
      <p:sp>
        <p:nvSpPr>
          <p:cNvPr id="13" name="Shape 9"/>
          <p:cNvSpPr/>
          <p:nvPr/>
        </p:nvSpPr>
        <p:spPr>
          <a:xfrm>
            <a:off x="6236208" y="2423160"/>
            <a:ext cx="2542032" cy="3108960"/>
          </a:xfrm>
          <a:prstGeom prst="roundRect">
            <a:avLst>
              <a:gd name="adj" fmla="val 3237"/>
            </a:avLst>
          </a:prstGeom>
          <a:solidFill>
            <a:srgbClr val="294B76"/>
          </a:solidFill>
          <a:ln/>
        </p:spPr>
      </p:sp>
      <p:pic>
        <p:nvPicPr>
          <p:cNvPr id="14" name="Image 2" descr="icon_search_E8734A.png"/>
          <p:cNvPicPr>
            <a:picLocks noChangeAspect="1"/>
          </p:cNvPicPr>
          <p:nvPr/>
        </p:nvPicPr>
        <p:blipFill>
          <a:blip r:embed="rId5"/>
          <a:stretch>
            <a:fillRect/>
          </a:stretch>
        </p:blipFill>
        <p:spPr>
          <a:xfrm>
            <a:off x="6455664" y="2697480"/>
            <a:ext cx="457200" cy="457200"/>
          </a:xfrm>
          <a:prstGeom prst="rect">
            <a:avLst/>
          </a:prstGeom>
        </p:spPr>
      </p:pic>
      <p:sp>
        <p:nvSpPr>
          <p:cNvPr id="15" name="Text 10"/>
          <p:cNvSpPr/>
          <p:nvPr/>
        </p:nvSpPr>
        <p:spPr>
          <a:xfrm>
            <a:off x="6455664" y="3337560"/>
            <a:ext cx="2103120" cy="457200"/>
          </a:xfrm>
          <a:prstGeom prst="rect">
            <a:avLst/>
          </a:prstGeom>
          <a:noFill/>
          <a:ln/>
        </p:spPr>
        <p:txBody>
          <a:bodyPr wrap="square" lIns="91440" tIns="45720" rIns="91440" bIns="45720" rtlCol="0" anchor="ctr"/>
          <a:lstStyle/>
          <a:p>
            <a:pPr marL="0" indent="0">
              <a:buNone/>
            </a:pPr>
            <a:r>
              <a:rPr lang="en-US" b="1">
                <a:solidFill>
                  <a:srgbClr val="FFFFFF"/>
                </a:solidFill>
                <a:latin typeface="Georgia"/>
                <a:ea typeface="Georgia" pitchFamily="34" charset="-122"/>
                <a:cs typeface="Georgia" pitchFamily="34" charset="-120"/>
              </a:rPr>
              <a:t>Quick retrieval</a:t>
            </a:r>
            <a:endParaRPr lang="en-US">
              <a:latin typeface="Georgia"/>
              <a:ea typeface="Calibri"/>
              <a:cs typeface="Calibri"/>
            </a:endParaRPr>
          </a:p>
        </p:txBody>
      </p:sp>
      <p:sp>
        <p:nvSpPr>
          <p:cNvPr id="16" name="Text 11"/>
          <p:cNvSpPr/>
          <p:nvPr/>
        </p:nvSpPr>
        <p:spPr>
          <a:xfrm>
            <a:off x="6455664" y="3794760"/>
            <a:ext cx="2103120" cy="1554480"/>
          </a:xfrm>
          <a:prstGeom prst="rect">
            <a:avLst/>
          </a:prstGeom>
          <a:noFill/>
          <a:ln/>
        </p:spPr>
        <p:txBody>
          <a:bodyPr wrap="square" lIns="91440" tIns="45720" rIns="91440" bIns="45720" rtlCol="0" anchor="t"/>
          <a:lstStyle/>
          <a:p>
            <a:pPr marL="0" indent="0">
              <a:buNone/>
            </a:pPr>
            <a:r>
              <a:rPr lang="en-US" sz="2000">
                <a:solidFill>
                  <a:schemeClr val="tx1">
                    <a:lumMod val="95000"/>
                    <a:lumOff val="5000"/>
                  </a:schemeClr>
                </a:solidFill>
              </a:rPr>
              <a:t>Search by tracking ID, customer, category, or status to pull up any record instantly.</a:t>
            </a:r>
            <a:endParaRPr lang="en-US" sz="2000">
              <a:solidFill>
                <a:schemeClr val="tx1">
                  <a:lumMod val="95000"/>
                  <a:lumOff val="5000"/>
                </a:schemeClr>
              </a:solidFill>
              <a:ea typeface="Calibri"/>
              <a:cs typeface="Calibri"/>
            </a:endParaRPr>
          </a:p>
        </p:txBody>
      </p:sp>
      <p:sp>
        <p:nvSpPr>
          <p:cNvPr id="17" name="Shape 12"/>
          <p:cNvSpPr/>
          <p:nvPr/>
        </p:nvSpPr>
        <p:spPr>
          <a:xfrm>
            <a:off x="9034272" y="2423160"/>
            <a:ext cx="2542032" cy="3108960"/>
          </a:xfrm>
          <a:prstGeom prst="roundRect">
            <a:avLst>
              <a:gd name="adj" fmla="val 3237"/>
            </a:avLst>
          </a:prstGeom>
          <a:solidFill>
            <a:srgbClr val="294B76"/>
          </a:solidFill>
          <a:ln/>
        </p:spPr>
      </p:sp>
      <p:pic>
        <p:nvPicPr>
          <p:cNvPr id="18" name="Image 3" descr="icon_repeat_E8734A.png"/>
          <p:cNvPicPr>
            <a:picLocks noChangeAspect="1"/>
          </p:cNvPicPr>
          <p:nvPr/>
        </p:nvPicPr>
        <p:blipFill>
          <a:blip r:embed="rId6"/>
          <a:stretch>
            <a:fillRect/>
          </a:stretch>
        </p:blipFill>
        <p:spPr>
          <a:xfrm>
            <a:off x="9253728" y="2697480"/>
            <a:ext cx="457200" cy="457200"/>
          </a:xfrm>
          <a:prstGeom prst="rect">
            <a:avLst/>
          </a:prstGeom>
        </p:spPr>
      </p:pic>
      <p:sp>
        <p:nvSpPr>
          <p:cNvPr id="19" name="Text 13"/>
          <p:cNvSpPr/>
          <p:nvPr/>
        </p:nvSpPr>
        <p:spPr>
          <a:xfrm>
            <a:off x="9253728" y="3337560"/>
            <a:ext cx="2103120" cy="457200"/>
          </a:xfrm>
          <a:prstGeom prst="rect">
            <a:avLst/>
          </a:prstGeom>
          <a:noFill/>
          <a:ln/>
        </p:spPr>
        <p:txBody>
          <a:bodyPr wrap="square" lIns="91440" tIns="45720" rIns="91440" bIns="45720" rtlCol="0" anchor="ctr"/>
          <a:lstStyle/>
          <a:p>
            <a:pPr marL="0" indent="0">
              <a:buNone/>
            </a:pPr>
            <a:r>
              <a:rPr lang="en-US" b="1">
                <a:solidFill>
                  <a:srgbClr val="FFFFFF"/>
                </a:solidFill>
                <a:latin typeface="Georgia"/>
                <a:ea typeface="Georgia" pitchFamily="34" charset="-122"/>
                <a:cs typeface="Georgia" pitchFamily="34" charset="-120"/>
              </a:rPr>
              <a:t>Complete history</a:t>
            </a:r>
            <a:endParaRPr lang="en-US">
              <a:latin typeface="Georgia"/>
              <a:ea typeface="Calibri"/>
              <a:cs typeface="Calibri"/>
            </a:endParaRPr>
          </a:p>
        </p:txBody>
      </p:sp>
      <p:sp>
        <p:nvSpPr>
          <p:cNvPr id="20" name="Text 14"/>
          <p:cNvSpPr/>
          <p:nvPr/>
        </p:nvSpPr>
        <p:spPr>
          <a:xfrm>
            <a:off x="9253728" y="3794760"/>
            <a:ext cx="2103120" cy="1554480"/>
          </a:xfrm>
          <a:prstGeom prst="rect">
            <a:avLst/>
          </a:prstGeom>
          <a:noFill/>
          <a:ln/>
        </p:spPr>
        <p:txBody>
          <a:bodyPr wrap="square" lIns="91440" tIns="45720" rIns="91440" bIns="45720" rtlCol="0" anchor="t"/>
          <a:lstStyle/>
          <a:p>
            <a:pPr marL="0" indent="0">
              <a:buNone/>
            </a:pPr>
            <a:r>
              <a:rPr lang="en-US" sz="2000">
                <a:solidFill>
                  <a:schemeClr val="tx1">
                    <a:lumMod val="95000"/>
                    <a:lumOff val="5000"/>
                  </a:schemeClr>
                </a:solidFill>
              </a:rPr>
              <a:t>Every update is preserved, so the full lifecycle of a complaint is always auditable.</a:t>
            </a:r>
            <a:endParaRPr lang="en-US" sz="2000">
              <a:solidFill>
                <a:schemeClr val="tx1">
                  <a:lumMod val="95000"/>
                  <a:lumOff val="5000"/>
                </a:schemeClr>
              </a:solidFill>
              <a:ea typeface="Calibri"/>
              <a:cs typeface="Calibri"/>
            </a:endParaRPr>
          </a:p>
        </p:txBody>
      </p:sp>
      <p:sp>
        <p:nvSpPr>
          <p:cNvPr id="21" name="Text 15"/>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2" name="Text 16"/>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7</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REPORTING</a:t>
            </a:r>
            <a:endParaRPr lang="en-US" sz="2400"/>
          </a:p>
        </p:txBody>
      </p:sp>
      <p:sp>
        <p:nvSpPr>
          <p:cNvPr id="3" name="Text 1"/>
          <p:cNvSpPr/>
          <p:nvPr/>
        </p:nvSpPr>
        <p:spPr>
          <a:xfrm>
            <a:off x="640080" y="804672"/>
            <a:ext cx="10241280" cy="64008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Reports that surface recurring issues</a:t>
            </a:r>
            <a:endParaRPr lang="en-US" sz="2600"/>
          </a:p>
        </p:txBody>
      </p:sp>
      <p:sp>
        <p:nvSpPr>
          <p:cNvPr id="4" name="Shape 2"/>
          <p:cNvSpPr/>
          <p:nvPr/>
        </p:nvSpPr>
        <p:spPr>
          <a:xfrm>
            <a:off x="640080"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5" name="Shape 3"/>
          <p:cNvSpPr/>
          <p:nvPr/>
        </p:nvSpPr>
        <p:spPr>
          <a:xfrm>
            <a:off x="640080" y="1691640"/>
            <a:ext cx="73152" cy="1234440"/>
          </a:xfrm>
          <a:prstGeom prst="rect">
            <a:avLst/>
          </a:prstGeom>
          <a:solidFill>
            <a:srgbClr val="1F3A5F"/>
          </a:solidFill>
          <a:ln/>
        </p:spPr>
      </p:sp>
      <p:pic>
        <p:nvPicPr>
          <p:cNvPr id="6" name="Image 0" descr="icon_inbox_94A3B8.png"/>
          <p:cNvPicPr>
            <a:picLocks noChangeAspect="1"/>
          </p:cNvPicPr>
          <p:nvPr/>
        </p:nvPicPr>
        <p:blipFill>
          <a:blip r:embed="rId3"/>
          <a:stretch>
            <a:fillRect/>
          </a:stretch>
        </p:blipFill>
        <p:spPr>
          <a:xfrm>
            <a:off x="2651760" y="1874520"/>
            <a:ext cx="310896" cy="310896"/>
          </a:xfrm>
          <a:prstGeom prst="rect">
            <a:avLst/>
          </a:prstGeom>
        </p:spPr>
      </p:pic>
      <p:sp>
        <p:nvSpPr>
          <p:cNvPr id="7" name="Text 4"/>
          <p:cNvSpPr/>
          <p:nvPr/>
        </p:nvSpPr>
        <p:spPr>
          <a:xfrm>
            <a:off x="877824"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142</a:t>
            </a:r>
            <a:endParaRPr lang="en-US" sz="2600"/>
          </a:p>
        </p:txBody>
      </p:sp>
      <p:sp>
        <p:nvSpPr>
          <p:cNvPr id="8" name="Text 5"/>
          <p:cNvSpPr/>
          <p:nvPr/>
        </p:nvSpPr>
        <p:spPr>
          <a:xfrm>
            <a:off x="877824" y="2468880"/>
            <a:ext cx="2084832" cy="365760"/>
          </a:xfrm>
          <a:prstGeom prst="rect">
            <a:avLst/>
          </a:prstGeom>
          <a:noFill/>
          <a:ln/>
        </p:spPr>
        <p:txBody>
          <a:bodyPr wrap="square" lIns="91440" tIns="45720" rIns="91440" bIns="45720" rtlCol="0" anchor="ctr"/>
          <a:lstStyle/>
          <a:p>
            <a:pPr marL="0" indent="0">
              <a:buNone/>
            </a:pPr>
            <a:r>
              <a:rPr lang="en-US">
                <a:solidFill>
                  <a:schemeClr val="tx1">
                    <a:lumMod val="95000"/>
                    <a:lumOff val="5000"/>
                  </a:schemeClr>
                </a:solidFill>
              </a:rPr>
              <a:t>Total complaints</a:t>
            </a:r>
            <a:endParaRPr lang="en-US">
              <a:solidFill>
                <a:schemeClr val="tx1">
                  <a:lumMod val="95000"/>
                  <a:lumOff val="5000"/>
                </a:schemeClr>
              </a:solidFill>
              <a:ea typeface="Calibri"/>
              <a:cs typeface="Calibri"/>
            </a:endParaRPr>
          </a:p>
        </p:txBody>
      </p:sp>
      <p:sp>
        <p:nvSpPr>
          <p:cNvPr id="9" name="Shape 6"/>
          <p:cNvSpPr/>
          <p:nvPr/>
        </p:nvSpPr>
        <p:spPr>
          <a:xfrm>
            <a:off x="3438144"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10" name="Shape 7"/>
          <p:cNvSpPr/>
          <p:nvPr/>
        </p:nvSpPr>
        <p:spPr>
          <a:xfrm>
            <a:off x="3438144" y="1691640"/>
            <a:ext cx="73152" cy="1234440"/>
          </a:xfrm>
          <a:prstGeom prst="rect">
            <a:avLst/>
          </a:prstGeom>
          <a:solidFill>
            <a:srgbClr val="C24E3D"/>
          </a:solidFill>
          <a:ln/>
        </p:spPr>
      </p:sp>
      <p:pic>
        <p:nvPicPr>
          <p:cNvPr id="11" name="Image 1" descr="icon_alert_94A3B8.png"/>
          <p:cNvPicPr>
            <a:picLocks noChangeAspect="1"/>
          </p:cNvPicPr>
          <p:nvPr/>
        </p:nvPicPr>
        <p:blipFill>
          <a:blip r:embed="rId4"/>
          <a:stretch>
            <a:fillRect/>
          </a:stretch>
        </p:blipFill>
        <p:spPr>
          <a:xfrm>
            <a:off x="5449824" y="1874520"/>
            <a:ext cx="310896" cy="310896"/>
          </a:xfrm>
          <a:prstGeom prst="rect">
            <a:avLst/>
          </a:prstGeom>
        </p:spPr>
      </p:pic>
      <p:sp>
        <p:nvSpPr>
          <p:cNvPr id="12" name="Text 8"/>
          <p:cNvSpPr/>
          <p:nvPr/>
        </p:nvSpPr>
        <p:spPr>
          <a:xfrm>
            <a:off x="3675888"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38</a:t>
            </a:r>
            <a:endParaRPr lang="en-US" sz="2600"/>
          </a:p>
        </p:txBody>
      </p:sp>
      <p:sp>
        <p:nvSpPr>
          <p:cNvPr id="13" name="Text 9"/>
          <p:cNvSpPr/>
          <p:nvPr/>
        </p:nvSpPr>
        <p:spPr>
          <a:xfrm>
            <a:off x="3675888" y="2468880"/>
            <a:ext cx="2084832" cy="365760"/>
          </a:xfrm>
          <a:prstGeom prst="rect">
            <a:avLst/>
          </a:prstGeom>
          <a:noFill/>
          <a:ln/>
        </p:spPr>
        <p:txBody>
          <a:bodyPr wrap="square" lIns="91440" tIns="45720" rIns="91440" bIns="45720" rtlCol="0" anchor="ctr"/>
          <a:lstStyle/>
          <a:p>
            <a:pPr marL="0" indent="0">
              <a:buNone/>
            </a:pPr>
            <a:r>
              <a:rPr lang="en-US">
                <a:solidFill>
                  <a:schemeClr val="tx1">
                    <a:lumMod val="95000"/>
                    <a:lumOff val="5000"/>
                  </a:schemeClr>
                </a:solidFill>
              </a:rPr>
              <a:t>Open</a:t>
            </a:r>
            <a:endParaRPr lang="en-US">
              <a:solidFill>
                <a:schemeClr val="tx1">
                  <a:lumMod val="95000"/>
                  <a:lumOff val="5000"/>
                </a:schemeClr>
              </a:solidFill>
              <a:ea typeface="Calibri"/>
              <a:cs typeface="Calibri"/>
            </a:endParaRPr>
          </a:p>
        </p:txBody>
      </p:sp>
      <p:sp>
        <p:nvSpPr>
          <p:cNvPr id="14" name="Shape 10"/>
          <p:cNvSpPr/>
          <p:nvPr/>
        </p:nvSpPr>
        <p:spPr>
          <a:xfrm>
            <a:off x="6012688"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15" name="Shape 11"/>
          <p:cNvSpPr/>
          <p:nvPr/>
        </p:nvSpPr>
        <p:spPr>
          <a:xfrm>
            <a:off x="6236208" y="1691640"/>
            <a:ext cx="73152" cy="1234440"/>
          </a:xfrm>
          <a:prstGeom prst="rect">
            <a:avLst/>
          </a:prstGeom>
          <a:solidFill>
            <a:srgbClr val="2E7D6B"/>
          </a:solidFill>
          <a:ln/>
        </p:spPr>
      </p:sp>
      <p:pic>
        <p:nvPicPr>
          <p:cNvPr id="16" name="Image 2" descr="icon_check_94A3B8.png"/>
          <p:cNvPicPr>
            <a:picLocks noChangeAspect="1"/>
          </p:cNvPicPr>
          <p:nvPr/>
        </p:nvPicPr>
        <p:blipFill>
          <a:blip r:embed="rId5"/>
          <a:stretch>
            <a:fillRect/>
          </a:stretch>
        </p:blipFill>
        <p:spPr>
          <a:xfrm>
            <a:off x="8247888" y="1874520"/>
            <a:ext cx="310896" cy="310896"/>
          </a:xfrm>
          <a:prstGeom prst="rect">
            <a:avLst/>
          </a:prstGeom>
        </p:spPr>
      </p:pic>
      <p:sp>
        <p:nvSpPr>
          <p:cNvPr id="17" name="Text 12"/>
          <p:cNvSpPr/>
          <p:nvPr/>
        </p:nvSpPr>
        <p:spPr>
          <a:xfrm>
            <a:off x="6473952"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104</a:t>
            </a:r>
            <a:endParaRPr lang="en-US" sz="2600"/>
          </a:p>
        </p:txBody>
      </p:sp>
      <p:sp>
        <p:nvSpPr>
          <p:cNvPr id="18" name="Text 13"/>
          <p:cNvSpPr/>
          <p:nvPr/>
        </p:nvSpPr>
        <p:spPr>
          <a:xfrm>
            <a:off x="6473952" y="2468880"/>
            <a:ext cx="2084832" cy="365760"/>
          </a:xfrm>
          <a:prstGeom prst="rect">
            <a:avLst/>
          </a:prstGeom>
          <a:noFill/>
          <a:ln/>
        </p:spPr>
        <p:txBody>
          <a:bodyPr wrap="square" lIns="91440" tIns="45720" rIns="91440" bIns="45720" rtlCol="0" anchor="ctr"/>
          <a:lstStyle/>
          <a:p>
            <a:pPr marL="0" indent="0">
              <a:buNone/>
            </a:pPr>
            <a:r>
              <a:rPr lang="en-US" sz="2000">
                <a:solidFill>
                  <a:schemeClr val="tx1">
                    <a:lumMod val="95000"/>
                    <a:lumOff val="5000"/>
                  </a:schemeClr>
                </a:solidFill>
              </a:rPr>
              <a:t>Resolved</a:t>
            </a:r>
            <a:endParaRPr lang="en-US" sz="2000">
              <a:solidFill>
                <a:schemeClr val="tx1">
                  <a:lumMod val="95000"/>
                  <a:lumOff val="5000"/>
                </a:schemeClr>
              </a:solidFill>
              <a:ea typeface="Calibri"/>
              <a:cs typeface="Calibri"/>
            </a:endParaRPr>
          </a:p>
        </p:txBody>
      </p:sp>
      <p:sp>
        <p:nvSpPr>
          <p:cNvPr id="19" name="Shape 14"/>
          <p:cNvSpPr/>
          <p:nvPr/>
        </p:nvSpPr>
        <p:spPr>
          <a:xfrm>
            <a:off x="9034272" y="1691640"/>
            <a:ext cx="2542032" cy="1234440"/>
          </a:xfrm>
          <a:prstGeom prst="roundRect">
            <a:avLst>
              <a:gd name="adj" fmla="val 5926"/>
            </a:avLst>
          </a:prstGeom>
          <a:solidFill>
            <a:srgbClr val="FFFFFF"/>
          </a:solidFill>
          <a:ln/>
          <a:effectLst>
            <a:outerShdw blurRad="63500" dist="25400" dir="5400000" algn="bl" rotWithShape="0">
              <a:srgbClr val="1E2A38">
                <a:alpha val="10000"/>
              </a:srgbClr>
            </a:outerShdw>
          </a:effectLst>
        </p:spPr>
      </p:sp>
      <p:sp>
        <p:nvSpPr>
          <p:cNvPr id="20" name="Shape 15"/>
          <p:cNvSpPr/>
          <p:nvPr/>
        </p:nvSpPr>
        <p:spPr>
          <a:xfrm>
            <a:off x="9034272" y="1691640"/>
            <a:ext cx="73152" cy="1234440"/>
          </a:xfrm>
          <a:prstGeom prst="rect">
            <a:avLst/>
          </a:prstGeom>
          <a:solidFill>
            <a:srgbClr val="E8734A"/>
          </a:solidFill>
          <a:ln/>
        </p:spPr>
      </p:sp>
      <p:pic>
        <p:nvPicPr>
          <p:cNvPr id="21" name="Image 3" descr="icon_clock_94A3B8.png"/>
          <p:cNvPicPr>
            <a:picLocks noChangeAspect="1"/>
          </p:cNvPicPr>
          <p:nvPr/>
        </p:nvPicPr>
        <p:blipFill>
          <a:blip r:embed="rId6"/>
          <a:stretch>
            <a:fillRect/>
          </a:stretch>
        </p:blipFill>
        <p:spPr>
          <a:xfrm>
            <a:off x="11045952" y="1874520"/>
            <a:ext cx="310896" cy="310896"/>
          </a:xfrm>
          <a:prstGeom prst="rect">
            <a:avLst/>
          </a:prstGeom>
        </p:spPr>
      </p:pic>
      <p:sp>
        <p:nvSpPr>
          <p:cNvPr id="22" name="Text 16"/>
          <p:cNvSpPr/>
          <p:nvPr/>
        </p:nvSpPr>
        <p:spPr>
          <a:xfrm>
            <a:off x="9272016" y="1856232"/>
            <a:ext cx="2084832" cy="548640"/>
          </a:xfrm>
          <a:prstGeom prst="rect">
            <a:avLst/>
          </a:prstGeom>
          <a:noFill/>
          <a:ln/>
        </p:spPr>
        <p:txBody>
          <a:bodyPr wrap="square" rtlCol="0" anchor="ctr"/>
          <a:lstStyle/>
          <a:p>
            <a:pPr marL="0" indent="0">
              <a:buNone/>
            </a:pPr>
            <a:r>
              <a:rPr lang="en-US" sz="2600" b="1">
                <a:solidFill>
                  <a:srgbClr val="1E2A38"/>
                </a:solidFill>
                <a:latin typeface="Georgia" pitchFamily="34" charset="0"/>
                <a:ea typeface="Georgia" pitchFamily="34" charset="-122"/>
                <a:cs typeface="Georgia" pitchFamily="34" charset="-120"/>
              </a:rPr>
              <a:t>3.2 days</a:t>
            </a:r>
            <a:endParaRPr lang="en-US" sz="2600"/>
          </a:p>
        </p:txBody>
      </p:sp>
      <p:sp>
        <p:nvSpPr>
          <p:cNvPr id="23" name="Text 17"/>
          <p:cNvSpPr/>
          <p:nvPr/>
        </p:nvSpPr>
        <p:spPr>
          <a:xfrm>
            <a:off x="9272016" y="2468880"/>
            <a:ext cx="2084832" cy="365760"/>
          </a:xfrm>
          <a:prstGeom prst="rect">
            <a:avLst/>
          </a:prstGeom>
          <a:noFill/>
          <a:ln/>
        </p:spPr>
        <p:txBody>
          <a:bodyPr wrap="square" lIns="91440" tIns="45720" rIns="91440" bIns="45720" rtlCol="0" anchor="ctr"/>
          <a:lstStyle/>
          <a:p>
            <a:pPr marL="0" indent="0">
              <a:buNone/>
            </a:pPr>
            <a:r>
              <a:rPr lang="en-US" sz="2000">
                <a:solidFill>
                  <a:schemeClr val="tx1">
                    <a:lumMod val="95000"/>
                    <a:lumOff val="5000"/>
                  </a:schemeClr>
                </a:solidFill>
              </a:rPr>
              <a:t>Avg. resolution</a:t>
            </a:r>
            <a:endParaRPr lang="en-US" sz="2000">
              <a:solidFill>
                <a:schemeClr val="tx1">
                  <a:lumMod val="95000"/>
                  <a:lumOff val="5000"/>
                </a:schemeClr>
              </a:solidFill>
              <a:ea typeface="Calibri"/>
              <a:cs typeface="Calibri"/>
            </a:endParaRPr>
          </a:p>
        </p:txBody>
      </p:sp>
      <p:sp>
        <p:nvSpPr>
          <p:cNvPr id="24" name="Text 18"/>
          <p:cNvSpPr/>
          <p:nvPr/>
        </p:nvSpPr>
        <p:spPr>
          <a:xfrm>
            <a:off x="640080" y="3246120"/>
            <a:ext cx="5486400" cy="320040"/>
          </a:xfrm>
          <a:prstGeom prst="rect">
            <a:avLst/>
          </a:prstGeom>
          <a:noFill/>
          <a:ln/>
        </p:spPr>
        <p:txBody>
          <a:bodyPr wrap="square" lIns="91440" tIns="45720" rIns="91440" bIns="45720" rtlCol="0" anchor="ctr"/>
          <a:lstStyle/>
          <a:p>
            <a:pPr marL="0" indent="0">
              <a:buNone/>
            </a:pPr>
            <a:r>
              <a:rPr lang="en-US" sz="2000" b="1">
                <a:solidFill>
                  <a:srgbClr val="1E2A38"/>
                </a:solidFill>
              </a:rPr>
              <a:t>Complaints by category</a:t>
            </a:r>
            <a:endParaRPr lang="en-US" sz="2000">
              <a:ea typeface="Calibri"/>
              <a:cs typeface="Calibri"/>
            </a:endParaRPr>
          </a:p>
        </p:txBody>
      </p:sp>
      <p:graphicFrame>
        <p:nvGraphicFramePr>
          <p:cNvPr id="25" name="Chart 0"/>
          <p:cNvGraphicFramePr/>
          <p:nvPr/>
        </p:nvGraphicFramePr>
        <p:xfrm>
          <a:off x="640080" y="3566160"/>
          <a:ext cx="5486400" cy="2834640"/>
        </p:xfrm>
        <a:graphic>
          <a:graphicData uri="http://schemas.openxmlformats.org/drawingml/2006/chart">
            <c:chart xmlns:c="http://schemas.openxmlformats.org/drawingml/2006/chart" xmlns:r="http://schemas.openxmlformats.org/officeDocument/2006/relationships" r:id="rId7"/>
          </a:graphicData>
        </a:graphic>
      </p:graphicFrame>
      <p:sp>
        <p:nvSpPr>
          <p:cNvPr id="26" name="Text 19"/>
          <p:cNvSpPr/>
          <p:nvPr/>
        </p:nvSpPr>
        <p:spPr>
          <a:xfrm>
            <a:off x="6446520" y="3246120"/>
            <a:ext cx="5486400" cy="320040"/>
          </a:xfrm>
          <a:prstGeom prst="rect">
            <a:avLst/>
          </a:prstGeom>
          <a:noFill/>
          <a:ln/>
        </p:spPr>
        <p:txBody>
          <a:bodyPr wrap="square" lIns="91440" tIns="45720" rIns="91440" bIns="45720" rtlCol="0" anchor="ctr"/>
          <a:lstStyle/>
          <a:p>
            <a:pPr marL="0" indent="0">
              <a:buNone/>
            </a:pPr>
            <a:r>
              <a:rPr lang="en-US" sz="2000" b="1">
                <a:solidFill>
                  <a:srgbClr val="1E2A38"/>
                </a:solidFill>
              </a:rPr>
              <a:t>Complaints by status</a:t>
            </a:r>
            <a:endParaRPr lang="en-US" sz="2000">
              <a:ea typeface="Calibri"/>
              <a:cs typeface="Calibri"/>
            </a:endParaRPr>
          </a:p>
        </p:txBody>
      </p:sp>
      <p:graphicFrame>
        <p:nvGraphicFramePr>
          <p:cNvPr id="27" name="Chart 1"/>
          <p:cNvGraphicFramePr/>
          <p:nvPr/>
        </p:nvGraphicFramePr>
        <p:xfrm>
          <a:off x="6446520" y="3566160"/>
          <a:ext cx="5120640" cy="28346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 20"/>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29" name="Text 21"/>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8</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A5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ADVANTAGES</a:t>
            </a:r>
            <a:endParaRPr lang="en-US" sz="2400">
              <a:ea typeface="Calibri"/>
              <a:cs typeface="Calibri"/>
            </a:endParaRPr>
          </a:p>
        </p:txBody>
      </p:sp>
      <p:sp>
        <p:nvSpPr>
          <p:cNvPr id="3" name="Text 1"/>
          <p:cNvSpPr/>
          <p:nvPr/>
        </p:nvSpPr>
        <p:spPr>
          <a:xfrm>
            <a:off x="640080" y="868680"/>
            <a:ext cx="9875520" cy="640080"/>
          </a:xfrm>
          <a:prstGeom prst="rect">
            <a:avLst/>
          </a:prstGeom>
          <a:noFill/>
          <a:ln/>
        </p:spPr>
        <p:txBody>
          <a:bodyPr wrap="square" rtlCol="0" anchor="ctr"/>
          <a:lstStyle/>
          <a:p>
            <a:pPr marL="0" indent="0">
              <a:buNone/>
            </a:pPr>
            <a:r>
              <a:rPr lang="en-US" sz="2700" b="1">
                <a:solidFill>
                  <a:srgbClr val="FFFFFF"/>
                </a:solidFill>
                <a:latin typeface="Georgia" pitchFamily="34" charset="0"/>
                <a:ea typeface="Georgia" pitchFamily="34" charset="-122"/>
                <a:cs typeface="Georgia" pitchFamily="34" charset="-120"/>
              </a:rPr>
              <a:t>What automation delivers</a:t>
            </a:r>
            <a:endParaRPr lang="en-US" sz="2700"/>
          </a:p>
        </p:txBody>
      </p:sp>
      <p:sp>
        <p:nvSpPr>
          <p:cNvPr id="4" name="Shape 2"/>
          <p:cNvSpPr/>
          <p:nvPr/>
        </p:nvSpPr>
        <p:spPr>
          <a:xfrm>
            <a:off x="640080" y="1920240"/>
            <a:ext cx="2542032" cy="2834640"/>
          </a:xfrm>
          <a:prstGeom prst="roundRect">
            <a:avLst>
              <a:gd name="adj" fmla="val 3237"/>
            </a:avLst>
          </a:prstGeom>
          <a:solidFill>
            <a:srgbClr val="294B76"/>
          </a:solidFill>
          <a:ln/>
        </p:spPr>
      </p:sp>
      <p:pic>
        <p:nvPicPr>
          <p:cNvPr id="5" name="Image 0" descr="icon_clock_E8734A.png"/>
          <p:cNvPicPr>
            <a:picLocks noChangeAspect="1"/>
          </p:cNvPicPr>
          <p:nvPr/>
        </p:nvPicPr>
        <p:blipFill>
          <a:blip r:embed="rId3"/>
          <a:stretch>
            <a:fillRect/>
          </a:stretch>
        </p:blipFill>
        <p:spPr>
          <a:xfrm>
            <a:off x="1664208" y="2133600"/>
            <a:ext cx="493776" cy="493776"/>
          </a:xfrm>
          <a:prstGeom prst="rect">
            <a:avLst/>
          </a:prstGeom>
        </p:spPr>
      </p:pic>
      <p:sp>
        <p:nvSpPr>
          <p:cNvPr id="6" name="Text 3"/>
          <p:cNvSpPr/>
          <p:nvPr/>
        </p:nvSpPr>
        <p:spPr>
          <a:xfrm>
            <a:off x="848360" y="293116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Reduced manual effort and response time</a:t>
            </a:r>
            <a:endParaRPr lang="en-US" sz="2400">
              <a:latin typeface="Georgia"/>
              <a:ea typeface="Calibri"/>
              <a:cs typeface="Calibri"/>
            </a:endParaRPr>
          </a:p>
        </p:txBody>
      </p:sp>
      <p:sp>
        <p:nvSpPr>
          <p:cNvPr id="7" name="Shape 4"/>
          <p:cNvSpPr/>
          <p:nvPr/>
        </p:nvSpPr>
        <p:spPr>
          <a:xfrm>
            <a:off x="3438144" y="1920240"/>
            <a:ext cx="2542032" cy="2834640"/>
          </a:xfrm>
          <a:prstGeom prst="roundRect">
            <a:avLst>
              <a:gd name="adj" fmla="val 3237"/>
            </a:avLst>
          </a:prstGeom>
          <a:solidFill>
            <a:srgbClr val="294B76"/>
          </a:solidFill>
          <a:ln/>
        </p:spPr>
      </p:sp>
      <p:pic>
        <p:nvPicPr>
          <p:cNvPr id="8" name="Image 1" descr="icon_shield_E8734A.png"/>
          <p:cNvPicPr>
            <a:picLocks noChangeAspect="1"/>
          </p:cNvPicPr>
          <p:nvPr/>
        </p:nvPicPr>
        <p:blipFill>
          <a:blip r:embed="rId4"/>
          <a:stretch>
            <a:fillRect/>
          </a:stretch>
        </p:blipFill>
        <p:spPr>
          <a:xfrm>
            <a:off x="4462272" y="2042160"/>
            <a:ext cx="493776" cy="493776"/>
          </a:xfrm>
          <a:prstGeom prst="rect">
            <a:avLst/>
          </a:prstGeom>
        </p:spPr>
      </p:pic>
      <p:sp>
        <p:nvSpPr>
          <p:cNvPr id="9" name="Text 5"/>
          <p:cNvSpPr/>
          <p:nvPr/>
        </p:nvSpPr>
        <p:spPr>
          <a:xfrm>
            <a:off x="3676904" y="293116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Transparency across the full complaint lifecycle</a:t>
            </a:r>
            <a:endParaRPr lang="en-US" sz="2400">
              <a:latin typeface="Georgia"/>
              <a:ea typeface="Calibri"/>
              <a:cs typeface="Calibri"/>
            </a:endParaRPr>
          </a:p>
        </p:txBody>
      </p:sp>
      <p:sp>
        <p:nvSpPr>
          <p:cNvPr id="10" name="Shape 6"/>
          <p:cNvSpPr/>
          <p:nvPr/>
        </p:nvSpPr>
        <p:spPr>
          <a:xfrm>
            <a:off x="6236208" y="1920240"/>
            <a:ext cx="2542032" cy="2834640"/>
          </a:xfrm>
          <a:prstGeom prst="roundRect">
            <a:avLst>
              <a:gd name="adj" fmla="val 3237"/>
            </a:avLst>
          </a:prstGeom>
          <a:solidFill>
            <a:srgbClr val="294B76"/>
          </a:solidFill>
          <a:ln/>
        </p:spPr>
      </p:sp>
      <p:pic>
        <p:nvPicPr>
          <p:cNvPr id="11" name="Image 2" descr="icon_message_E8734A.png"/>
          <p:cNvPicPr>
            <a:picLocks noChangeAspect="1"/>
          </p:cNvPicPr>
          <p:nvPr/>
        </p:nvPicPr>
        <p:blipFill>
          <a:blip r:embed="rId5"/>
          <a:stretch>
            <a:fillRect/>
          </a:stretch>
        </p:blipFill>
        <p:spPr>
          <a:xfrm>
            <a:off x="7260336" y="2042160"/>
            <a:ext cx="493776" cy="493776"/>
          </a:xfrm>
          <a:prstGeom prst="rect">
            <a:avLst/>
          </a:prstGeom>
        </p:spPr>
      </p:pic>
      <p:sp>
        <p:nvSpPr>
          <p:cNvPr id="12" name="Text 7"/>
          <p:cNvSpPr/>
          <p:nvPr/>
        </p:nvSpPr>
        <p:spPr>
          <a:xfrm>
            <a:off x="6454648" y="253492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Better communication between customers and support teams</a:t>
            </a:r>
            <a:endParaRPr lang="en-US" sz="2400">
              <a:latin typeface="Georgia"/>
              <a:ea typeface="Calibri"/>
              <a:cs typeface="Calibri"/>
            </a:endParaRPr>
          </a:p>
        </p:txBody>
      </p:sp>
      <p:sp>
        <p:nvSpPr>
          <p:cNvPr id="13" name="Shape 8"/>
          <p:cNvSpPr/>
          <p:nvPr/>
        </p:nvSpPr>
        <p:spPr>
          <a:xfrm>
            <a:off x="9034272" y="1920240"/>
            <a:ext cx="2542032" cy="2834640"/>
          </a:xfrm>
          <a:prstGeom prst="roundRect">
            <a:avLst>
              <a:gd name="adj" fmla="val 3237"/>
            </a:avLst>
          </a:prstGeom>
          <a:solidFill>
            <a:srgbClr val="294B76"/>
          </a:solidFill>
          <a:ln/>
        </p:spPr>
      </p:sp>
      <p:pic>
        <p:nvPicPr>
          <p:cNvPr id="14" name="Image 3" descr="icon_pie_E8734A.png"/>
          <p:cNvPicPr>
            <a:picLocks noChangeAspect="1"/>
          </p:cNvPicPr>
          <p:nvPr/>
        </p:nvPicPr>
        <p:blipFill>
          <a:blip r:embed="rId6"/>
          <a:stretch>
            <a:fillRect/>
          </a:stretch>
        </p:blipFill>
        <p:spPr>
          <a:xfrm>
            <a:off x="10058400" y="2042160"/>
            <a:ext cx="493776" cy="493776"/>
          </a:xfrm>
          <a:prstGeom prst="rect">
            <a:avLst/>
          </a:prstGeom>
        </p:spPr>
      </p:pic>
      <p:sp>
        <p:nvSpPr>
          <p:cNvPr id="15" name="Text 9"/>
          <p:cNvSpPr/>
          <p:nvPr/>
        </p:nvSpPr>
        <p:spPr>
          <a:xfrm>
            <a:off x="9262872" y="2931160"/>
            <a:ext cx="2084832" cy="1417320"/>
          </a:xfrm>
          <a:prstGeom prst="rect">
            <a:avLst/>
          </a:prstGeom>
          <a:noFill/>
          <a:ln/>
        </p:spPr>
        <p:txBody>
          <a:bodyPr wrap="square" lIns="91440" tIns="45720" rIns="91440" bIns="45720" rtlCol="0" anchor="t"/>
          <a:lstStyle/>
          <a:p>
            <a:pPr marL="0" indent="0" algn="ctr">
              <a:buNone/>
            </a:pPr>
            <a:r>
              <a:rPr lang="en-US" sz="2400">
                <a:solidFill>
                  <a:srgbClr val="E4EAF1"/>
                </a:solidFill>
                <a:latin typeface="Georgia"/>
                <a:ea typeface="Georgia" pitchFamily="34" charset="-122"/>
                <a:cs typeface="Georgia" pitchFamily="34" charset="-120"/>
              </a:rPr>
              <a:t>Accurate data for better decision-making</a:t>
            </a:r>
            <a:endParaRPr lang="en-US" sz="2400">
              <a:latin typeface="Georgia"/>
              <a:ea typeface="Calibri"/>
              <a:cs typeface="Calibri"/>
            </a:endParaRPr>
          </a:p>
        </p:txBody>
      </p:sp>
      <p:sp>
        <p:nvSpPr>
          <p:cNvPr id="16" name="Text 10"/>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17" name="Text 11"/>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9</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91440" tIns="45720" rIns="91440" bIns="45720" rtlCol="0" anchor="ctr"/>
          <a:lstStyle/>
          <a:p>
            <a:pPr marL="0" indent="0">
              <a:buNone/>
            </a:pPr>
            <a:r>
              <a:rPr lang="en-US" sz="2400" b="1" kern="0" spc="200">
                <a:solidFill>
                  <a:srgbClr val="E8734A"/>
                </a:solidFill>
              </a:rPr>
              <a:t>CONCLUSION</a:t>
            </a:r>
            <a:endParaRPr lang="en-US" sz="2400">
              <a:ea typeface="Calibri"/>
              <a:cs typeface="Calibri"/>
            </a:endParaRPr>
          </a:p>
        </p:txBody>
      </p:sp>
      <p:sp>
        <p:nvSpPr>
          <p:cNvPr id="3" name="Text 1"/>
          <p:cNvSpPr/>
          <p:nvPr/>
        </p:nvSpPr>
        <p:spPr>
          <a:xfrm>
            <a:off x="640080" y="804672"/>
            <a:ext cx="10058400" cy="685800"/>
          </a:xfrm>
          <a:prstGeom prst="rect">
            <a:avLst/>
          </a:prstGeom>
          <a:noFill/>
          <a:ln/>
        </p:spPr>
        <p:txBody>
          <a:bodyPr wrap="square" rtlCol="0" anchor="ctr"/>
          <a:lstStyle/>
          <a:p>
            <a:pPr marL="0" indent="0">
              <a:buNone/>
            </a:pPr>
            <a:r>
              <a:rPr lang="en-US" sz="2700" b="1">
                <a:solidFill>
                  <a:srgbClr val="1E2A38"/>
                </a:solidFill>
                <a:latin typeface="Georgia" pitchFamily="34" charset="0"/>
                <a:ea typeface="Georgia" pitchFamily="34" charset="-122"/>
                <a:cs typeface="Georgia" pitchFamily="34" charset="-120"/>
              </a:rPr>
              <a:t>A reliable, secure, user-friendly platform</a:t>
            </a:r>
            <a:endParaRPr lang="en-US" sz="2700"/>
          </a:p>
        </p:txBody>
      </p:sp>
      <p:sp>
        <p:nvSpPr>
          <p:cNvPr id="4" name="Shape 2"/>
          <p:cNvSpPr/>
          <p:nvPr/>
        </p:nvSpPr>
        <p:spPr>
          <a:xfrm>
            <a:off x="640080" y="1828800"/>
            <a:ext cx="10881360" cy="3017520"/>
          </a:xfrm>
          <a:prstGeom prst="roundRect">
            <a:avLst>
              <a:gd name="adj" fmla="val 2727"/>
            </a:avLst>
          </a:prstGeom>
          <a:solidFill>
            <a:srgbClr val="F4F6F8"/>
          </a:solidFill>
          <a:ln/>
        </p:spPr>
      </p:sp>
      <p:sp>
        <p:nvSpPr>
          <p:cNvPr id="5" name="Shape 3"/>
          <p:cNvSpPr/>
          <p:nvPr/>
        </p:nvSpPr>
        <p:spPr>
          <a:xfrm>
            <a:off x="640080" y="1828800"/>
            <a:ext cx="73152" cy="3017520"/>
          </a:xfrm>
          <a:prstGeom prst="rect">
            <a:avLst/>
          </a:prstGeom>
          <a:solidFill>
            <a:srgbClr val="2E7D6B"/>
          </a:solidFill>
          <a:ln/>
        </p:spPr>
      </p:sp>
      <p:sp>
        <p:nvSpPr>
          <p:cNvPr id="6" name="Text 4"/>
          <p:cNvSpPr/>
          <p:nvPr/>
        </p:nvSpPr>
        <p:spPr>
          <a:xfrm>
            <a:off x="1005840" y="1823720"/>
            <a:ext cx="10149840" cy="2377440"/>
          </a:xfrm>
          <a:prstGeom prst="rect">
            <a:avLst/>
          </a:prstGeom>
          <a:noFill/>
          <a:ln/>
        </p:spPr>
        <p:txBody>
          <a:bodyPr wrap="square" lIns="91440" tIns="45720" rIns="91440" bIns="45720" rtlCol="0" anchor="t"/>
          <a:lstStyle/>
          <a:p>
            <a:pPr marL="0" indent="0">
              <a:lnSpc>
                <a:spcPct val="135000"/>
              </a:lnSpc>
              <a:buNone/>
            </a:pPr>
            <a:r>
              <a:rPr lang="en-US" sz="2800">
                <a:solidFill>
                  <a:srgbClr val="1E2A38"/>
                </a:solidFill>
              </a:rPr>
              <a:t>Complaint Tracker turns a slow, manual, error-prone process into a centralized system that customers and administrators can both rely on. With unique tracking IDs, complete history, fast search, and clear reporting, it helps organizations resolve issues faster and make better decisions — ultimately improving customer satisfaction.</a:t>
            </a:r>
            <a:endParaRPr lang="en-US" sz="2800">
              <a:ea typeface="Calibri"/>
              <a:cs typeface="Calibri"/>
            </a:endParaRPr>
          </a:p>
        </p:txBody>
      </p:sp>
      <p:sp>
        <p:nvSpPr>
          <p:cNvPr id="7" name="Text 5"/>
          <p:cNvSpPr/>
          <p:nvPr/>
        </p:nvSpPr>
        <p:spPr>
          <a:xfrm>
            <a:off x="640080" y="5120640"/>
            <a:ext cx="5486400" cy="548640"/>
          </a:xfrm>
          <a:prstGeom prst="rect">
            <a:avLst/>
          </a:prstGeom>
          <a:noFill/>
          <a:ln/>
        </p:spPr>
        <p:txBody>
          <a:bodyPr wrap="square" lIns="91440" tIns="45720" rIns="91440" bIns="45720" rtlCol="0" anchor="ctr"/>
          <a:lstStyle/>
          <a:p>
            <a:pPr marL="0" indent="0">
              <a:buNone/>
            </a:pPr>
            <a:r>
              <a:rPr lang="en-US" sz="2800" b="1">
                <a:solidFill>
                  <a:srgbClr val="1F3A5F"/>
                </a:solidFill>
                <a:latin typeface="Georgia"/>
                <a:ea typeface="Georgia" pitchFamily="34" charset="-122"/>
                <a:cs typeface="Georgia" pitchFamily="34" charset="-120"/>
              </a:rPr>
              <a:t>Thank you</a:t>
            </a:r>
            <a:endParaRPr lang="en-US" sz="2800">
              <a:latin typeface="Georgia"/>
              <a:ea typeface="Calibri"/>
              <a:cs typeface="Calibri"/>
            </a:endParaRPr>
          </a:p>
        </p:txBody>
      </p:sp>
      <p:sp>
        <p:nvSpPr>
          <p:cNvPr id="8" name="Text 6"/>
          <p:cNvSpPr/>
          <p:nvPr/>
        </p:nvSpPr>
        <p:spPr>
          <a:xfrm>
            <a:off x="457200" y="6473952"/>
            <a:ext cx="3657600" cy="274320"/>
          </a:xfrm>
          <a:prstGeom prst="rect">
            <a:avLst/>
          </a:prstGeom>
          <a:noFill/>
          <a:ln/>
        </p:spPr>
        <p:txBody>
          <a:bodyPr wrap="square" rtlCol="0" anchor="ctr"/>
          <a:lstStyle/>
          <a:p>
            <a:pPr marL="0" indent="0">
              <a:buNone/>
            </a:pPr>
            <a:r>
              <a:rPr lang="en-US" sz="900">
                <a:solidFill>
                  <a:srgbClr val="94A3B8"/>
                </a:solidFill>
                <a:latin typeface="Georgia" pitchFamily="34" charset="0"/>
                <a:ea typeface="Georgia" pitchFamily="34" charset="-122"/>
                <a:cs typeface="Georgia" pitchFamily="34" charset="-120"/>
              </a:rPr>
              <a:t>Complaint Tracker</a:t>
            </a:r>
            <a:endParaRPr lang="en-US" sz="900"/>
          </a:p>
        </p:txBody>
      </p:sp>
      <p:sp>
        <p:nvSpPr>
          <p:cNvPr id="9" name="Text 7"/>
          <p:cNvSpPr/>
          <p:nvPr/>
        </p:nvSpPr>
        <p:spPr>
          <a:xfrm>
            <a:off x="11365992" y="6473952"/>
            <a:ext cx="365760" cy="274320"/>
          </a:xfrm>
          <a:prstGeom prst="rect">
            <a:avLst/>
          </a:prstGeom>
          <a:noFill/>
          <a:ln/>
        </p:spPr>
        <p:txBody>
          <a:bodyPr wrap="square" rtlCol="0" anchor="ctr"/>
          <a:lstStyle/>
          <a:p>
            <a:pPr marL="0" indent="0" algn="r">
              <a:buNone/>
            </a:pPr>
            <a:r>
              <a:rPr lang="en-US" sz="900">
                <a:solidFill>
                  <a:srgbClr val="94A3B8"/>
                </a:solidFill>
              </a:rPr>
              <a:t>10</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634</Words>
  <Application>Microsoft Office PowerPoint</Application>
  <PresentationFormat>Widescreen</PresentationFormat>
  <Paragraphs>113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Surya prakash reddy Bhimavarapu</cp:lastModifiedBy>
  <cp:revision>139</cp:revision>
  <dcterms:created xsi:type="dcterms:W3CDTF">2026-08-06T06:52:52Z</dcterms:created>
  <dcterms:modified xsi:type="dcterms:W3CDTF">2026-08-20T08:22:21Z</dcterms:modified>
</cp:coreProperties>
</file>