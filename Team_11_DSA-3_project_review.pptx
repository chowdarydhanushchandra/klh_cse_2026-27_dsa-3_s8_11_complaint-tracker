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Chandra" userId="56c23fed00759a0f" providerId="LiveId" clId="{B3C4C850-7254-4F91-A82D-B9BCD16A173E}"/>
    <pc:docChg chg="undo custSel modSld">
      <pc:chgData name="Dhanush Chandra" userId="56c23fed00759a0f" providerId="LiveId" clId="{B3C4C850-7254-4F91-A82D-B9BCD16A173E}" dt="2026-08-30T17:17:04.875" v="25" actId="1076"/>
      <pc:docMkLst>
        <pc:docMk/>
      </pc:docMkLst>
      <pc:sldChg chg="addSp delSp modSp mod">
        <pc:chgData name="Dhanush Chandra" userId="56c23fed00759a0f" providerId="LiveId" clId="{B3C4C850-7254-4F91-A82D-B9BCD16A173E}" dt="2026-08-30T17:17:04.875" v="25" actId="1076"/>
        <pc:sldMkLst>
          <pc:docMk/>
          <pc:sldMk cId="106092222" sldId="267"/>
        </pc:sldMkLst>
        <pc:picChg chg="del">
          <ac:chgData name="Dhanush Chandra" userId="56c23fed00759a0f" providerId="LiveId" clId="{B3C4C850-7254-4F91-A82D-B9BCD16A173E}" dt="2026-08-30T17:12:09.601" v="0" actId="21"/>
          <ac:picMkLst>
            <pc:docMk/>
            <pc:sldMk cId="106092222" sldId="267"/>
            <ac:picMk id="4" creationId="{C7C0C4AC-9409-849D-7DDD-E5582D9AA3AE}"/>
          </ac:picMkLst>
        </pc:picChg>
        <pc:picChg chg="del">
          <ac:chgData name="Dhanush Chandra" userId="56c23fed00759a0f" providerId="LiveId" clId="{B3C4C850-7254-4F91-A82D-B9BCD16A173E}" dt="2026-08-30T17:15:29.633" v="7" actId="21"/>
          <ac:picMkLst>
            <pc:docMk/>
            <pc:sldMk cId="106092222" sldId="267"/>
            <ac:picMk id="5" creationId="{B9AB0EB7-47AC-48A8-3055-A3CAC75FCEEF}"/>
          </ac:picMkLst>
        </pc:picChg>
        <pc:picChg chg="add del">
          <ac:chgData name="Dhanush Chandra" userId="56c23fed00759a0f" providerId="LiveId" clId="{B3C4C850-7254-4F91-A82D-B9BCD16A173E}" dt="2026-08-30T17:12:16.624" v="2" actId="22"/>
          <ac:picMkLst>
            <pc:docMk/>
            <pc:sldMk cId="106092222" sldId="267"/>
            <ac:picMk id="7" creationId="{5168A1E7-1D24-B0C9-917F-96E794E47E9F}"/>
          </ac:picMkLst>
        </pc:picChg>
        <pc:picChg chg="add mod">
          <ac:chgData name="Dhanush Chandra" userId="56c23fed00759a0f" providerId="LiveId" clId="{B3C4C850-7254-4F91-A82D-B9BCD16A173E}" dt="2026-08-30T17:16:04.922" v="15" actId="1076"/>
          <ac:picMkLst>
            <pc:docMk/>
            <pc:sldMk cId="106092222" sldId="267"/>
            <ac:picMk id="9" creationId="{B60F2373-59BF-0E3D-32F8-4D7F0B8303EE}"/>
          </ac:picMkLst>
        </pc:picChg>
        <pc:picChg chg="add del">
          <ac:chgData name="Dhanush Chandra" userId="56c23fed00759a0f" providerId="LiveId" clId="{B3C4C850-7254-4F91-A82D-B9BCD16A173E}" dt="2026-08-30T17:15:35.426" v="9" actId="21"/>
          <ac:picMkLst>
            <pc:docMk/>
            <pc:sldMk cId="106092222" sldId="267"/>
            <ac:picMk id="11" creationId="{9163EB37-C330-A364-D419-1A1E8D21CBA6}"/>
          </ac:picMkLst>
        </pc:picChg>
        <pc:picChg chg="add mod">
          <ac:chgData name="Dhanush Chandra" userId="56c23fed00759a0f" providerId="LiveId" clId="{B3C4C850-7254-4F91-A82D-B9BCD16A173E}" dt="2026-08-30T17:17:04.875" v="25" actId="1076"/>
          <ac:picMkLst>
            <pc:docMk/>
            <pc:sldMk cId="106092222" sldId="267"/>
            <ac:picMk id="13" creationId="{E459D161-40F4-23B8-02FF-032CA95F573B}"/>
          </ac:picMkLst>
        </pc:picChg>
        <pc:picChg chg="add mod">
          <ac:chgData name="Dhanush Chandra" userId="56c23fed00759a0f" providerId="LiveId" clId="{B3C4C850-7254-4F91-A82D-B9BCD16A173E}" dt="2026-08-30T17:17:02.109" v="24" actId="1076"/>
          <ac:picMkLst>
            <pc:docMk/>
            <pc:sldMk cId="106092222" sldId="267"/>
            <ac:picMk id="15" creationId="{F34444F2-FFC7-F712-74AE-0382BED7C2E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8215" y="535406"/>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dirty="0"/>
              <a:t>Complaint Tracker</a:t>
            </a:r>
            <a:endParaRPr lang="en-US" sz="4000" b="1" dirty="0">
              <a:solidFill>
                <a:srgbClr val="C00000"/>
              </a:solidFill>
              <a:latin typeface="+mn-lt"/>
            </a:endParaRPr>
          </a:p>
        </p:txBody>
      </p:sp>
      <p:sp>
        <p:nvSpPr>
          <p:cNvPr id="3" name="Subtitle 2"/>
          <p:cNvSpPr>
            <a:spLocks noGrp="1"/>
          </p:cNvSpPr>
          <p:nvPr>
            <p:ph type="subTitle" idx="1"/>
          </p:nvPr>
        </p:nvSpPr>
        <p:spPr>
          <a:xfrm>
            <a:off x="2203939" y="2992785"/>
            <a:ext cx="6674338" cy="1719892"/>
          </a:xfrm>
        </p:spPr>
        <p:txBody>
          <a:bodyPr/>
          <a:lstStyle/>
          <a:p>
            <a:r>
              <a:rPr lang="en-US" dirty="0">
                <a:solidFill>
                  <a:srgbClr val="0070C0"/>
                </a:solidFill>
              </a:rPr>
              <a:t>Team Members</a:t>
            </a:r>
          </a:p>
          <a:p>
            <a:r>
              <a:rPr lang="en-US" dirty="0">
                <a:solidFill>
                  <a:srgbClr val="0070C0"/>
                </a:solidFill>
              </a:rPr>
              <a:t>Name :B SURYA PRAKASH REDDY _25020030145</a:t>
            </a:r>
          </a:p>
          <a:p>
            <a:r>
              <a:rPr lang="en-US" dirty="0">
                <a:solidFill>
                  <a:srgbClr val="0070C0"/>
                </a:solidFill>
              </a:rPr>
              <a:t>Name: CH MEGHANADH SAI REDDY_2520030274</a:t>
            </a:r>
          </a:p>
          <a:p>
            <a:r>
              <a:rPr lang="en-US" dirty="0">
                <a:solidFill>
                  <a:srgbClr val="0070C0"/>
                </a:solidFill>
              </a:rPr>
              <a:t>Name: C DHANUSH CHANDRA_2520030014</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p>
          <a:p>
            <a:pPr marL="171450" algn="ctr">
              <a:lnSpc>
                <a:spcPct val="107000"/>
              </a:lnSpc>
              <a:spcAft>
                <a:spcPts val="800"/>
              </a:spcAft>
            </a:pPr>
            <a:r>
              <a:rPr lang="en-US" sz="1800" kern="0" dirty="0" err="1">
                <a:solidFill>
                  <a:srgbClr val="000000"/>
                </a:solidFill>
                <a:latin typeface="Times New Roman" panose="02020603050405020304" pitchFamily="18" charset="0"/>
                <a:ea typeface="Calibri" panose="020F0502020204030204" pitchFamily="34" charset="0"/>
                <a:cs typeface="Gautami" panose="020B0502040204020203" pitchFamily="34" charset="0"/>
              </a:rPr>
              <a:t>DR.V.Sireesha</a:t>
            </a:r>
            <a:r>
              <a:rPr lang="en-US" sz="1800"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a:solidFill>
                  <a:srgbClr val="0070C0"/>
                </a:solidFill>
              </a:rPr>
              <a:t>CSE</a:t>
            </a: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595432" y="915942"/>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519395" y="84840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7C167F8D-D674-7E3A-018B-48106EA94918}"/>
              </a:ext>
            </a:extLst>
          </p:cNvPr>
          <p:cNvSpPr txBox="1"/>
          <p:nvPr/>
        </p:nvSpPr>
        <p:spPr>
          <a:xfrm>
            <a:off x="840153" y="2456795"/>
            <a:ext cx="11230708" cy="4401205"/>
          </a:xfrm>
          <a:prstGeom prst="rect">
            <a:avLst/>
          </a:prstGeom>
          <a:noFill/>
        </p:spPr>
        <p:txBody>
          <a:bodyPr wrap="square">
            <a:spAutoFit/>
          </a:bodyPr>
          <a:lstStyle/>
          <a:p>
            <a:pPr>
              <a:buNone/>
            </a:pPr>
            <a:r>
              <a:rPr lang="en-IN" sz="2000" dirty="0"/>
              <a:t>Organizations receive a large number of customer complaints every day, making it difficult to manage, track, and resolve issues efficiently using manual processes. Delayed responses, misplaced records, and poor tracking can negatively affect customer satisfaction and service quality.</a:t>
            </a:r>
          </a:p>
          <a:p>
            <a:pPr>
              <a:buNone/>
            </a:pPr>
            <a:endParaRPr lang="en-IN" sz="2000" dirty="0"/>
          </a:p>
          <a:p>
            <a:pPr>
              <a:buNone/>
            </a:pPr>
            <a:r>
              <a:rPr lang="en-IN" sz="2000" dirty="0"/>
              <a:t>The </a:t>
            </a:r>
            <a:r>
              <a:rPr lang="en-IN" sz="2000" b="1" dirty="0"/>
              <a:t>Complaint Tracker</a:t>
            </a:r>
            <a:r>
              <a:rPr lang="en-IN" sz="2000" dirty="0"/>
              <a:t> provides a centralized system for registering, tracking, categorizing, assigning, updating, and resolving complaints. Each complaint is assigned a unique tracking ID and stored securely, allowing quick retrieval and efficient record management. The system also maintains complaint history, supports search functionality, and generates reports for identifying recurring issues.</a:t>
            </a:r>
          </a:p>
          <a:p>
            <a:pPr>
              <a:buNone/>
            </a:pPr>
            <a:endParaRPr lang="en-IN" sz="2000" dirty="0"/>
          </a:p>
          <a:p>
            <a:pPr>
              <a:buNone/>
            </a:pPr>
            <a:r>
              <a:rPr lang="en-IN" sz="2000" dirty="0"/>
              <a:t>The project applies </a:t>
            </a:r>
            <a:r>
              <a:rPr lang="en-IN" sz="2000" b="1" dirty="0"/>
              <a:t>Data Structures and Algorithms</a:t>
            </a:r>
            <a:r>
              <a:rPr lang="en-IN" sz="2000" dirty="0"/>
              <a:t> to improve complaint management and processing efficiency. By automating the complaint-handling process, the system reduces manual effort, minimizes response time, and provides transparency throughout the complaint lifecycle. Overall, the Complaint Tracker offers a reliable and user-friendly solution that helps organizations achieve faster complaint resolution and improved customer satisfaction.</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6" y="1054035"/>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0" y="986496"/>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B3CE1DC9-BFA7-622D-3821-D9D739120458}"/>
              </a:ext>
            </a:extLst>
          </p:cNvPr>
          <p:cNvSpPr txBox="1"/>
          <p:nvPr/>
        </p:nvSpPr>
        <p:spPr>
          <a:xfrm>
            <a:off x="1670003" y="2532184"/>
            <a:ext cx="9571005" cy="3970318"/>
          </a:xfrm>
          <a:prstGeom prst="rect">
            <a:avLst/>
          </a:prstGeom>
          <a:noFill/>
        </p:spPr>
        <p:txBody>
          <a:bodyPr wrap="square">
            <a:spAutoFit/>
          </a:bodyPr>
          <a:lstStyle/>
          <a:p>
            <a:pPr>
              <a:buNone/>
            </a:pPr>
            <a:r>
              <a:rPr lang="en-IN" dirty="0"/>
              <a:t>In today’s organizations, handling a large number of customer complaints efficiently is an important part of maintaining good customer service. Manual complaint management can lead to delayed responses, misplaced records, difficulty in tracking complaints, and poor communication between customers and support teams.</a:t>
            </a:r>
          </a:p>
          <a:p>
            <a:pPr>
              <a:buNone/>
            </a:pPr>
            <a:r>
              <a:rPr lang="en-IN" dirty="0"/>
              <a:t>The Complaint Tracker is developed as a centralized system to simplify and automate the complaint-handling process. Customers can register complaints and track their progress, while administrators can view, categorize, assign, update, and resolve complaints. Each complaint receives a unique tracking ID, making it easier to retrieve and manage individual complaints.</a:t>
            </a:r>
          </a:p>
          <a:p>
            <a:pPr>
              <a:buNone/>
            </a:pPr>
            <a:r>
              <a:rPr lang="en-IN" dirty="0"/>
              <a:t>The system maintains complaint details and history, provides search and tracking functionality, and can generate reports to help organizations identify common or recurring problems. By applying suitable Data Structures and Algorithms, complaints can be organized and accessed efficiently.</a:t>
            </a:r>
          </a:p>
          <a:p>
            <a:pPr>
              <a:buNone/>
            </a:pPr>
            <a:r>
              <a:rPr lang="en-IN" dirty="0"/>
              <a:t>Overall, the Complaint Tracker helps reduce manual effort, improve response time, provide transparency in complaint resolution, and support organizations in delivering better and faster customer service.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127039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511579" y="1270399"/>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CFD696F6-2111-0011-6703-17A9C9BD0E0F}"/>
              </a:ext>
            </a:extLst>
          </p:cNvPr>
          <p:cNvSpPr txBox="1"/>
          <p:nvPr/>
        </p:nvSpPr>
        <p:spPr>
          <a:xfrm>
            <a:off x="531446" y="2461846"/>
            <a:ext cx="11316675" cy="4678204"/>
          </a:xfrm>
          <a:prstGeom prst="rect">
            <a:avLst/>
          </a:prstGeom>
          <a:noFill/>
        </p:spPr>
        <p:txBody>
          <a:bodyPr wrap="square">
            <a:spAutoFit/>
          </a:bodyPr>
          <a:lstStyle/>
          <a:p>
            <a:r>
              <a:rPr lang="en-IN" sz="2000" dirty="0"/>
              <a:t>Existing complaint management systems help organizations register, track, assign, and resolve complaints. Traditional manual systems can cause delays, misplaced records, and difficulty in maintaining complaint history.</a:t>
            </a:r>
          </a:p>
          <a:p>
            <a:endParaRPr lang="en-IN" sz="2000" dirty="0"/>
          </a:p>
          <a:p>
            <a:r>
              <a:rPr lang="en-IN" sz="2000" dirty="0"/>
              <a:t>Modern complaint systems use databases and automated tracking to improve complaint management. The proposed Complaint Tracker uses HashMap, Queue, Priority Queue, and </a:t>
            </a:r>
            <a:r>
              <a:rPr lang="en-IN" sz="2000" dirty="0" err="1"/>
              <a:t>ArrayList</a:t>
            </a:r>
            <a:r>
              <a:rPr lang="en-IN" sz="2000" dirty="0"/>
              <a:t> to provide efficient complaint storage, searching, prioritization, and processing. These data structures help organize a large number of complaints and make information retrieval faster.</a:t>
            </a:r>
          </a:p>
          <a:p>
            <a:endParaRPr lang="en-IN" sz="2000" dirty="0"/>
          </a:p>
          <a:p>
            <a:r>
              <a:rPr lang="en-IN" sz="2000" dirty="0"/>
              <a:t>The system also supports categorizing complaints based on their type and priority, allowing administrators to handle important complaints first. Maintaining complaint history helps track the progress of each complaint from registration to resolution.</a:t>
            </a:r>
          </a:p>
          <a:p>
            <a:r>
              <a:rPr lang="en-IN" sz="2000" dirty="0"/>
              <a:t>Overall, the proposed system aims to reduce manual effort, improve response time, maintain accurate records, and provide better transparency in the complaint resolution process</a:t>
            </a:r>
          </a:p>
          <a:p>
            <a:pPr>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128732" y="1356410"/>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980502" y="1427431"/>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3589ABA5-3C40-E99E-7E70-97AD2FD2652F}"/>
              </a:ext>
            </a:extLst>
          </p:cNvPr>
          <p:cNvSpPr txBox="1"/>
          <p:nvPr/>
        </p:nvSpPr>
        <p:spPr>
          <a:xfrm>
            <a:off x="867508" y="2532185"/>
            <a:ext cx="10832123" cy="4247317"/>
          </a:xfrm>
          <a:prstGeom prst="rect">
            <a:avLst/>
          </a:prstGeom>
          <a:noFill/>
        </p:spPr>
        <p:txBody>
          <a:bodyPr wrap="square">
            <a:spAutoFit/>
          </a:bodyPr>
          <a:lstStyle/>
          <a:p>
            <a:pPr>
              <a:buNone/>
            </a:pPr>
            <a:r>
              <a:rPr lang="en-IN" dirty="0"/>
              <a:t>Organizations receive a large number of complaints, making it difficult to search, track, prioritize, assign, and resolve complaints efficiently. Manual complaint handling can lead to delayed responses, misplaced records, duplicate complaints, and difficulty in maintaining complaint history. Therefore, the Complaint Tracker aims to provide an automated system that manages complaints efficiently using suitable advanced data structures and algorithms.</a:t>
            </a:r>
          </a:p>
          <a:p>
            <a:pPr>
              <a:buNone/>
            </a:pPr>
            <a:r>
              <a:rPr lang="en-IN" dirty="0"/>
              <a:t>Objectives</a:t>
            </a:r>
          </a:p>
          <a:p>
            <a:pPr marL="342900" lvl="0" indent="-342900">
              <a:buFont typeface="Arial" panose="020B0604020202020204" pitchFamily="34" charset="0"/>
              <a:buChar char="•"/>
            </a:pPr>
            <a:r>
              <a:rPr lang="en-IN" dirty="0"/>
              <a:t>To provide an easy system for registering and tracking complaints. </a:t>
            </a:r>
          </a:p>
          <a:p>
            <a:pPr marL="342900" lvl="0" indent="-342900">
              <a:buFont typeface="Arial" panose="020B0604020202020204" pitchFamily="34" charset="0"/>
              <a:buChar char="•"/>
            </a:pPr>
            <a:r>
              <a:rPr lang="en-IN" dirty="0"/>
              <a:t>To assign a unique ID to each complaint. </a:t>
            </a:r>
          </a:p>
          <a:p>
            <a:pPr marL="342900" lvl="0" indent="-342900">
              <a:buFont typeface="Arial" panose="020B0604020202020204" pitchFamily="34" charset="0"/>
              <a:buChar char="•"/>
            </a:pPr>
            <a:r>
              <a:rPr lang="en-IN" dirty="0"/>
              <a:t>To enable fast searching of complaint details. </a:t>
            </a:r>
          </a:p>
          <a:p>
            <a:pPr marL="342900" lvl="0" indent="-342900">
              <a:buFont typeface="Arial" panose="020B0604020202020204" pitchFamily="34" charset="0"/>
              <a:buChar char="•"/>
            </a:pPr>
            <a:r>
              <a:rPr lang="en-IN" dirty="0"/>
              <a:t>To identify similar or duplicate complaints using edit-distance techniques. </a:t>
            </a:r>
          </a:p>
          <a:p>
            <a:pPr marL="342900" lvl="0" indent="-342900">
              <a:buFont typeface="Arial" panose="020B0604020202020204" pitchFamily="34" charset="0"/>
              <a:buChar char="•"/>
            </a:pPr>
            <a:r>
              <a:rPr lang="en-IN" dirty="0"/>
              <a:t>To categorize and prioritize complaints for efficient processing. </a:t>
            </a:r>
          </a:p>
          <a:p>
            <a:pPr marL="342900" lvl="0" indent="-342900">
              <a:buFont typeface="Arial" panose="020B0604020202020204" pitchFamily="34" charset="0"/>
              <a:buChar char="•"/>
            </a:pPr>
            <a:r>
              <a:rPr lang="en-IN" dirty="0"/>
              <a:t>To assign complaints to suitable departments or support teams. </a:t>
            </a:r>
          </a:p>
          <a:p>
            <a:pPr marL="342900" lvl="0" indent="-342900">
              <a:buFont typeface="Arial" panose="020B0604020202020204" pitchFamily="34" charset="0"/>
              <a:buChar char="•"/>
            </a:pPr>
            <a:r>
              <a:rPr lang="en-IN" dirty="0"/>
              <a:t>To maintain complete complaint history and status updates. </a:t>
            </a:r>
          </a:p>
          <a:p>
            <a:pPr marL="342900" lvl="0" indent="-342900">
              <a:buFont typeface="Arial" panose="020B0604020202020204" pitchFamily="34" charset="0"/>
              <a:buChar char="•"/>
            </a:pPr>
            <a:r>
              <a:rPr lang="en-IN" dirty="0"/>
              <a:t>To reduce manual effort and response time. </a:t>
            </a:r>
          </a:p>
          <a:p>
            <a:pPr marL="342900" lvl="0" indent="-342900">
              <a:buFont typeface="Arial" panose="020B0604020202020204" pitchFamily="34" charset="0"/>
              <a:buChar char="•"/>
            </a:pPr>
            <a:r>
              <a:rPr lang="en-IN" dirty="0"/>
              <a:t>To apply String Algorithms, Dynamic Programming, Network Flow, and Hashing in a real-world application.</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9691"/>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TextBox 4">
            <a:extLst>
              <a:ext uri="{FF2B5EF4-FFF2-40B4-BE49-F238E27FC236}">
                <a16:creationId xmlns:a16="http://schemas.microsoft.com/office/drawing/2014/main" id="{93ABF75B-528A-C4D0-062F-C592B1E026E0}"/>
              </a:ext>
            </a:extLst>
          </p:cNvPr>
          <p:cNvSpPr txBox="1"/>
          <p:nvPr/>
        </p:nvSpPr>
        <p:spPr>
          <a:xfrm>
            <a:off x="2660072" y="806448"/>
            <a:ext cx="6572739" cy="6093976"/>
          </a:xfrm>
          <a:prstGeom prst="rect">
            <a:avLst/>
          </a:prstGeom>
          <a:noFill/>
        </p:spPr>
        <p:txBody>
          <a:bodyPr wrap="square">
            <a:spAutoFit/>
          </a:bodyPr>
          <a:lstStyle/>
          <a:p>
            <a:pPr algn="ctr"/>
            <a:r>
              <a:rPr lang="en-IN" sz="1500" dirty="0"/>
              <a:t>START</a:t>
            </a:r>
          </a:p>
          <a:p>
            <a:pPr algn="ctr"/>
            <a:r>
              <a:rPr lang="en-IN" sz="1500" dirty="0"/>
              <a:t>  ↓</a:t>
            </a:r>
          </a:p>
          <a:p>
            <a:pPr algn="ctr"/>
            <a:r>
              <a:rPr lang="en-IN" sz="1500" dirty="0"/>
              <a:t>Register Complaint</a:t>
            </a:r>
          </a:p>
          <a:p>
            <a:pPr algn="ctr"/>
            <a:r>
              <a:rPr lang="en-IN" sz="1500" dirty="0"/>
              <a:t>  ↓</a:t>
            </a:r>
          </a:p>
          <a:p>
            <a:pPr algn="ctr"/>
            <a:r>
              <a:rPr lang="en-IN" sz="1500" dirty="0"/>
              <a:t>Generate ID</a:t>
            </a:r>
          </a:p>
          <a:p>
            <a:pPr algn="ctr"/>
            <a:r>
              <a:rPr lang="en-IN" sz="1500" dirty="0"/>
              <a:t>  ↓</a:t>
            </a:r>
          </a:p>
          <a:p>
            <a:pPr algn="ctr"/>
            <a:r>
              <a:rPr lang="en-IN" sz="1500" dirty="0"/>
              <a:t>HashMap Storage</a:t>
            </a:r>
          </a:p>
          <a:p>
            <a:pPr algn="ctr"/>
            <a:r>
              <a:rPr lang="en-IN" sz="1500" dirty="0"/>
              <a:t>  ↓</a:t>
            </a:r>
          </a:p>
          <a:p>
            <a:pPr algn="ctr"/>
            <a:r>
              <a:rPr lang="en-IN" sz="1500" dirty="0"/>
              <a:t>Category + Priority</a:t>
            </a:r>
          </a:p>
          <a:p>
            <a:pPr algn="ctr"/>
            <a:r>
              <a:rPr lang="en-IN" sz="1500" dirty="0"/>
              <a:t>  ↓</a:t>
            </a:r>
          </a:p>
          <a:p>
            <a:pPr algn="ctr"/>
            <a:r>
              <a:rPr lang="en-IN" sz="1500" dirty="0"/>
              <a:t>Duplicate Check</a:t>
            </a:r>
          </a:p>
          <a:p>
            <a:pPr algn="ctr"/>
            <a:r>
              <a:rPr lang="en-IN" sz="1500" dirty="0"/>
              <a:t>(Edit Distance)</a:t>
            </a:r>
          </a:p>
          <a:p>
            <a:pPr algn="ctr"/>
            <a:r>
              <a:rPr lang="en-IN" sz="1500" dirty="0"/>
              <a:t>  ↓</a:t>
            </a:r>
          </a:p>
          <a:p>
            <a:pPr algn="ctr"/>
            <a:r>
              <a:rPr lang="en-IN" sz="1500" dirty="0"/>
              <a:t>Department Assignment</a:t>
            </a:r>
          </a:p>
          <a:p>
            <a:pPr algn="ctr"/>
            <a:r>
              <a:rPr lang="en-IN" sz="1500" dirty="0"/>
              <a:t>  ↓</a:t>
            </a:r>
          </a:p>
          <a:p>
            <a:pPr algn="ctr"/>
            <a:r>
              <a:rPr lang="en-IN" sz="1500" dirty="0"/>
              <a:t>Priority Queue</a:t>
            </a:r>
          </a:p>
          <a:p>
            <a:pPr algn="ctr"/>
            <a:r>
              <a:rPr lang="en-IN" sz="1500" dirty="0"/>
              <a:t>  ↓</a:t>
            </a:r>
          </a:p>
          <a:p>
            <a:pPr algn="ctr"/>
            <a:r>
              <a:rPr lang="en-IN" sz="1500" dirty="0"/>
              <a:t>Update Status</a:t>
            </a:r>
          </a:p>
          <a:p>
            <a:pPr algn="ctr"/>
            <a:r>
              <a:rPr lang="en-IN" sz="1500" dirty="0"/>
              <a:t>  ↓</a:t>
            </a:r>
          </a:p>
          <a:p>
            <a:pPr algn="ctr"/>
            <a:r>
              <a:rPr lang="en-IN" sz="1500" dirty="0"/>
              <a:t>Resolved?</a:t>
            </a:r>
          </a:p>
          <a:p>
            <a:pPr algn="ctr"/>
            <a:r>
              <a:rPr lang="en-IN" sz="1500" dirty="0"/>
              <a:t> ↙      ↘</a:t>
            </a:r>
          </a:p>
          <a:p>
            <a:pPr algn="ctr"/>
            <a:r>
              <a:rPr lang="en-IN" sz="1500" dirty="0"/>
              <a:t>Yes      No</a:t>
            </a:r>
          </a:p>
          <a:p>
            <a:pPr algn="ctr"/>
            <a:r>
              <a:rPr lang="en-IN" sz="1500" dirty="0"/>
              <a:t> ↓        ↓</a:t>
            </a:r>
          </a:p>
          <a:p>
            <a:pPr algn="ctr"/>
            <a:r>
              <a:rPr lang="en-IN" sz="1500" dirty="0"/>
              <a:t>Report   Re-process</a:t>
            </a:r>
          </a:p>
          <a:p>
            <a:pPr algn="ctr"/>
            <a:r>
              <a:rPr lang="en-IN" sz="1500" dirty="0"/>
              <a:t> ↓</a:t>
            </a:r>
          </a:p>
          <a:p>
            <a:pPr algn="ctr"/>
            <a:r>
              <a:rPr lang="en-IN" sz="1500" dirty="0"/>
              <a:t>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40724" y="11700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2394348" y="49469"/>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9" name="Picture 8">
            <a:extLst>
              <a:ext uri="{FF2B5EF4-FFF2-40B4-BE49-F238E27FC236}">
                <a16:creationId xmlns:a16="http://schemas.microsoft.com/office/drawing/2014/main" id="{B60F2373-59BF-0E3D-32F8-4D7F0B8303EE}"/>
              </a:ext>
            </a:extLst>
          </p:cNvPr>
          <p:cNvPicPr>
            <a:picLocks noChangeAspect="1"/>
          </p:cNvPicPr>
          <p:nvPr/>
        </p:nvPicPr>
        <p:blipFill>
          <a:blip r:embed="rId2"/>
          <a:stretch>
            <a:fillRect/>
          </a:stretch>
        </p:blipFill>
        <p:spPr>
          <a:xfrm>
            <a:off x="132862" y="913968"/>
            <a:ext cx="6275754" cy="4278805"/>
          </a:xfrm>
          <a:prstGeom prst="rect">
            <a:avLst/>
          </a:prstGeom>
        </p:spPr>
      </p:pic>
      <p:pic>
        <p:nvPicPr>
          <p:cNvPr id="13" name="Picture 12">
            <a:extLst>
              <a:ext uri="{FF2B5EF4-FFF2-40B4-BE49-F238E27FC236}">
                <a16:creationId xmlns:a16="http://schemas.microsoft.com/office/drawing/2014/main" id="{E459D161-40F4-23B8-02FF-032CA95F573B}"/>
              </a:ext>
            </a:extLst>
          </p:cNvPr>
          <p:cNvPicPr>
            <a:picLocks noChangeAspect="1"/>
          </p:cNvPicPr>
          <p:nvPr/>
        </p:nvPicPr>
        <p:blipFill>
          <a:blip r:embed="rId3"/>
          <a:stretch>
            <a:fillRect/>
          </a:stretch>
        </p:blipFill>
        <p:spPr>
          <a:xfrm>
            <a:off x="6913144" y="718990"/>
            <a:ext cx="4706116" cy="2853863"/>
          </a:xfrm>
          <a:prstGeom prst="rect">
            <a:avLst/>
          </a:prstGeom>
        </p:spPr>
      </p:pic>
      <p:pic>
        <p:nvPicPr>
          <p:cNvPr id="15" name="Picture 14">
            <a:extLst>
              <a:ext uri="{FF2B5EF4-FFF2-40B4-BE49-F238E27FC236}">
                <a16:creationId xmlns:a16="http://schemas.microsoft.com/office/drawing/2014/main" id="{F34444F2-FFC7-F712-74AE-0382BED7C2E1}"/>
              </a:ext>
            </a:extLst>
          </p:cNvPr>
          <p:cNvPicPr>
            <a:picLocks noChangeAspect="1"/>
          </p:cNvPicPr>
          <p:nvPr/>
        </p:nvPicPr>
        <p:blipFill>
          <a:blip r:embed="rId4"/>
          <a:stretch>
            <a:fillRect/>
          </a:stretch>
        </p:blipFill>
        <p:spPr>
          <a:xfrm>
            <a:off x="6913144" y="3657600"/>
            <a:ext cx="4798645" cy="2689823"/>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E8F326C5-D637-E014-22D2-1453013B2A1F}"/>
              </a:ext>
            </a:extLst>
          </p:cNvPr>
          <p:cNvSpPr txBox="1"/>
          <p:nvPr/>
        </p:nvSpPr>
        <p:spPr>
          <a:xfrm>
            <a:off x="3048000" y="1307296"/>
            <a:ext cx="6096000" cy="4247317"/>
          </a:xfrm>
          <a:prstGeom prst="rect">
            <a:avLst/>
          </a:prstGeom>
          <a:noFill/>
        </p:spPr>
        <p:txBody>
          <a:bodyPr wrap="square">
            <a:spAutoFit/>
          </a:bodyPr>
          <a:lstStyle/>
          <a:p>
            <a:pPr>
              <a:buNone/>
            </a:pPr>
            <a:r>
              <a:rPr lang="en-IN" b="1" dirty="0"/>
              <a:t>Hardware Requirements</a:t>
            </a:r>
          </a:p>
          <a:p>
            <a:pPr marL="342900" lvl="0" indent="-342900">
              <a:buFont typeface="Arial" panose="020B0604020202020204" pitchFamily="34" charset="0"/>
              <a:buChar char="•"/>
            </a:pPr>
            <a:r>
              <a:rPr lang="en-IN" b="1" dirty="0"/>
              <a:t>Processor:</a:t>
            </a:r>
            <a:r>
              <a:rPr lang="en-IN" dirty="0"/>
              <a:t> Intel Core i3 or equivalent </a:t>
            </a:r>
          </a:p>
          <a:p>
            <a:pPr marL="342900" lvl="0" indent="-342900">
              <a:buFont typeface="Arial" panose="020B0604020202020204" pitchFamily="34" charset="0"/>
              <a:buChar char="•"/>
            </a:pPr>
            <a:r>
              <a:rPr lang="en-IN" b="1" dirty="0"/>
              <a:t>RAM:</a:t>
            </a:r>
            <a:r>
              <a:rPr lang="en-IN" dirty="0"/>
              <a:t> 4 GB or above </a:t>
            </a:r>
          </a:p>
          <a:p>
            <a:pPr marL="342900" lvl="0" indent="-342900">
              <a:buFont typeface="Arial" panose="020B0604020202020204" pitchFamily="34" charset="0"/>
              <a:buChar char="•"/>
            </a:pPr>
            <a:r>
              <a:rPr lang="en-IN" b="1" dirty="0"/>
              <a:t>Storage:</a:t>
            </a:r>
            <a:r>
              <a:rPr lang="en-IN" dirty="0"/>
              <a:t> 10 GB free space </a:t>
            </a:r>
          </a:p>
          <a:p>
            <a:pPr marL="342900" lvl="0" indent="-342900">
              <a:buFont typeface="Arial" panose="020B0604020202020204" pitchFamily="34" charset="0"/>
              <a:buChar char="•"/>
            </a:pPr>
            <a:r>
              <a:rPr lang="en-IN" b="1" dirty="0"/>
              <a:t>Input:</a:t>
            </a:r>
            <a:r>
              <a:rPr lang="en-IN" dirty="0"/>
              <a:t> Keyboard and Mouse </a:t>
            </a:r>
          </a:p>
          <a:p>
            <a:pPr marL="342900" lvl="0" indent="-342900">
              <a:buFont typeface="Arial" panose="020B0604020202020204" pitchFamily="34" charset="0"/>
              <a:buChar char="•"/>
            </a:pPr>
            <a:r>
              <a:rPr lang="en-IN" b="1" dirty="0"/>
              <a:t>Display:</a:t>
            </a:r>
            <a:r>
              <a:rPr lang="en-IN" dirty="0"/>
              <a:t> Monitor </a:t>
            </a:r>
          </a:p>
          <a:p>
            <a:pPr marL="342900" lvl="0" indent="-342900">
              <a:buFont typeface="Arial" panose="020B0604020202020204" pitchFamily="34" charset="0"/>
              <a:buChar char="•"/>
            </a:pPr>
            <a:r>
              <a:rPr lang="en-IN" b="1" dirty="0"/>
              <a:t>Internet:</a:t>
            </a:r>
            <a:r>
              <a:rPr lang="en-IN" dirty="0"/>
              <a:t> Required for online database/server features </a:t>
            </a:r>
          </a:p>
          <a:p>
            <a:pPr>
              <a:buNone/>
            </a:pPr>
            <a:r>
              <a:rPr lang="en-IN" b="1" dirty="0"/>
              <a:t>Software Requirements</a:t>
            </a:r>
          </a:p>
          <a:p>
            <a:pPr marL="342900" lvl="0" indent="-342900">
              <a:buFont typeface="Arial" panose="020B0604020202020204" pitchFamily="34" charset="0"/>
              <a:buChar char="•"/>
            </a:pPr>
            <a:r>
              <a:rPr lang="en-IN" b="1" dirty="0"/>
              <a:t>Operating System:</a:t>
            </a:r>
            <a:r>
              <a:rPr lang="en-IN" dirty="0"/>
              <a:t> Windows / Linux </a:t>
            </a:r>
          </a:p>
          <a:p>
            <a:pPr marL="342900" lvl="0" indent="-342900">
              <a:buFont typeface="Arial" panose="020B0604020202020204" pitchFamily="34" charset="0"/>
              <a:buChar char="•"/>
            </a:pPr>
            <a:r>
              <a:rPr lang="en-IN" b="1" dirty="0"/>
              <a:t>Programming Language:</a:t>
            </a:r>
            <a:r>
              <a:rPr lang="en-IN" dirty="0"/>
              <a:t> Java </a:t>
            </a:r>
          </a:p>
          <a:p>
            <a:pPr marL="342900" lvl="0" indent="-342900">
              <a:buFont typeface="Arial" panose="020B0604020202020204" pitchFamily="34" charset="0"/>
              <a:buChar char="•"/>
            </a:pPr>
            <a:r>
              <a:rPr lang="en-IN" b="1" dirty="0"/>
              <a:t>JDK:</a:t>
            </a:r>
            <a:r>
              <a:rPr lang="en-IN" dirty="0"/>
              <a:t> Java 17 or above </a:t>
            </a:r>
          </a:p>
          <a:p>
            <a:pPr marL="342900" lvl="0" indent="-342900">
              <a:buFont typeface="Arial" panose="020B0604020202020204" pitchFamily="34" charset="0"/>
              <a:buChar char="•"/>
            </a:pPr>
            <a:r>
              <a:rPr lang="en-IN" b="1" dirty="0"/>
              <a:t>IDE:</a:t>
            </a:r>
            <a:r>
              <a:rPr lang="en-IN" dirty="0"/>
              <a:t> VS Code / Eclipse / IntelliJ IDEA </a:t>
            </a:r>
          </a:p>
          <a:p>
            <a:pPr marL="342900" lvl="0" indent="-342900">
              <a:buFont typeface="Arial" panose="020B0604020202020204" pitchFamily="34" charset="0"/>
              <a:buChar char="•"/>
            </a:pPr>
            <a:r>
              <a:rPr lang="en-IN" b="1" dirty="0"/>
              <a:t>Database:</a:t>
            </a:r>
            <a:r>
              <a:rPr lang="en-IN" dirty="0"/>
              <a:t> MySQL / MongoDB </a:t>
            </a:r>
          </a:p>
          <a:p>
            <a:pPr marL="342900" lvl="0" indent="-342900">
              <a:buFont typeface="Arial" panose="020B0604020202020204" pitchFamily="34" charset="0"/>
              <a:buChar char="•"/>
            </a:pPr>
            <a:r>
              <a:rPr lang="en-IN" b="1" dirty="0"/>
              <a:t>Libraries:</a:t>
            </a:r>
            <a:r>
              <a:rPr lang="en-IN" dirty="0"/>
              <a:t> Java Collections Framework </a:t>
            </a:r>
            <a:r>
              <a:rPr lang="en-IN" i="1" dirty="0"/>
              <a:t>(if permitted by the project rules)</a:t>
            </a:r>
            <a:endParaRPr lang="en-IN" dirty="0"/>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896323" y="1531030"/>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820287" y="1497261"/>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7" name="TextBox 6">
            <a:extLst>
              <a:ext uri="{FF2B5EF4-FFF2-40B4-BE49-F238E27FC236}">
                <a16:creationId xmlns:a16="http://schemas.microsoft.com/office/drawing/2014/main" id="{2A652938-03DF-5793-467F-BA7CDAB73809}"/>
              </a:ext>
            </a:extLst>
          </p:cNvPr>
          <p:cNvSpPr txBox="1"/>
          <p:nvPr/>
        </p:nvSpPr>
        <p:spPr>
          <a:xfrm>
            <a:off x="937846" y="2682201"/>
            <a:ext cx="10636739" cy="3785652"/>
          </a:xfrm>
          <a:prstGeom prst="rect">
            <a:avLst/>
          </a:prstGeom>
          <a:noFill/>
        </p:spPr>
        <p:txBody>
          <a:bodyPr wrap="square">
            <a:spAutoFit/>
          </a:bodyPr>
          <a:lstStyle/>
          <a:p>
            <a:pPr>
              <a:buNone/>
            </a:pPr>
            <a:r>
              <a:rPr lang="en-IN" sz="2000" dirty="0"/>
              <a:t>The Complaint Tracker provides a centralized and efficient approach to managing customer complaints from registration to resolution. It helps organizations maintain accurate records, track complaint status, categorize issues, and ensure that complaints are handled systematically.</a:t>
            </a:r>
          </a:p>
          <a:p>
            <a:pPr>
              <a:buNone/>
            </a:pPr>
            <a:r>
              <a:rPr lang="en-IN" sz="2000" dirty="0"/>
              <a:t>The application demonstrates the practical use of advanced Data Structures and Algorithms, including HashMap for fast searching, Edit Distance for identifying similar complaints, Network Flow for department assignment, and Priority Queue for handling urgent complaints.</a:t>
            </a:r>
          </a:p>
          <a:p>
            <a:pPr>
              <a:buNone/>
            </a:pPr>
            <a:endParaRPr lang="en-IN" sz="2000" dirty="0"/>
          </a:p>
          <a:p>
            <a:pPr>
              <a:buNone/>
            </a:pPr>
            <a:r>
              <a:rPr lang="en-IN" sz="2000" dirty="0"/>
              <a:t>By automating these operations, the system can reduce manual effort, minimize response time, improve complaint tracking, and increase transparency. It also provides useful complaint history and reports that can help organizations understand recurring problems and improve their services.</a:t>
            </a:r>
          </a:p>
          <a:p>
            <a:pPr>
              <a:buNone/>
            </a:pPr>
            <a:r>
              <a:rPr lang="en-IN" sz="2000" dirty="0"/>
              <a:t>Overall, the Complaint Tracker demonstrates how DSA concepts can be applied to solve a real-world problem and create a more reliable, organized, and user-friendly complaint management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4627062" y="669262"/>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551026" y="601723"/>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9E2BF4D3-8A12-ED68-4F04-67916D95348C}"/>
              </a:ext>
            </a:extLst>
          </p:cNvPr>
          <p:cNvSpPr txBox="1"/>
          <p:nvPr/>
        </p:nvSpPr>
        <p:spPr>
          <a:xfrm>
            <a:off x="2532185" y="1336431"/>
            <a:ext cx="8518769" cy="5078313"/>
          </a:xfrm>
          <a:prstGeom prst="rect">
            <a:avLst/>
          </a:prstGeom>
          <a:noFill/>
        </p:spPr>
        <p:txBody>
          <a:bodyPr wrap="square">
            <a:spAutoFit/>
          </a:bodyPr>
          <a:lstStyle/>
          <a:p>
            <a:pPr marL="342900" lvl="0" indent="-342900">
              <a:buFont typeface="Arial" panose="020B0604020202020204" pitchFamily="34" charset="0"/>
              <a:buChar char="•"/>
            </a:pPr>
            <a:r>
              <a:rPr lang="en-IN" b="1" dirty="0"/>
              <a:t>Mobile Application:</a:t>
            </a:r>
            <a:r>
              <a:rPr lang="en-IN" dirty="0"/>
              <a:t> Develop an Android/iOS app for easy complaint registration and tracking. </a:t>
            </a:r>
          </a:p>
          <a:p>
            <a:pPr marL="342900" lvl="0" indent="-342900">
              <a:buFont typeface="Arial" panose="020B0604020202020204" pitchFamily="34" charset="0"/>
              <a:buChar char="•"/>
            </a:pPr>
            <a:r>
              <a:rPr lang="en-IN" b="1" dirty="0"/>
              <a:t>AI-Based Complaint Classification:</a:t>
            </a:r>
            <a:r>
              <a:rPr lang="en-IN" dirty="0"/>
              <a:t> Automatically identify complaint categories and priority levels. </a:t>
            </a:r>
          </a:p>
          <a:p>
            <a:pPr marL="342900" lvl="0" indent="-342900">
              <a:buFont typeface="Arial" panose="020B0604020202020204" pitchFamily="34" charset="0"/>
              <a:buChar char="•"/>
            </a:pPr>
            <a:r>
              <a:rPr lang="en-IN" b="1" dirty="0"/>
              <a:t>Smart Duplicate Detection:</a:t>
            </a:r>
            <a:r>
              <a:rPr lang="en-IN" dirty="0"/>
              <a:t> Improve similar-complaint detection using advanced text-analysis techniques. </a:t>
            </a:r>
          </a:p>
          <a:p>
            <a:pPr marL="342900" lvl="0" indent="-342900">
              <a:buFont typeface="Arial" panose="020B0604020202020204" pitchFamily="34" charset="0"/>
              <a:buChar char="•"/>
            </a:pPr>
            <a:r>
              <a:rPr lang="en-IN" b="1" dirty="0"/>
              <a:t>Real-Time Notifications:</a:t>
            </a:r>
            <a:r>
              <a:rPr lang="en-IN" dirty="0"/>
              <a:t> Send SMS, email, or app notifications when complaint status changes. </a:t>
            </a:r>
          </a:p>
          <a:p>
            <a:pPr marL="342900" lvl="0" indent="-342900">
              <a:buFont typeface="Arial" panose="020B0604020202020204" pitchFamily="34" charset="0"/>
              <a:buChar char="•"/>
            </a:pPr>
            <a:r>
              <a:rPr lang="en-IN" b="1" dirty="0"/>
              <a:t>Advanced Analytics:</a:t>
            </a:r>
            <a:r>
              <a:rPr lang="en-IN" dirty="0"/>
              <a:t> Generate dashboards showing complaint trends, resolution time, and recurring issues. </a:t>
            </a:r>
          </a:p>
          <a:p>
            <a:pPr marL="342900" lvl="0" indent="-342900">
              <a:buFont typeface="Arial" panose="020B0604020202020204" pitchFamily="34" charset="0"/>
              <a:buChar char="•"/>
            </a:pPr>
            <a:r>
              <a:rPr lang="en-IN" b="1" dirty="0"/>
              <a:t>Automatic Assignment:</a:t>
            </a:r>
            <a:r>
              <a:rPr lang="en-IN" dirty="0"/>
              <a:t> Use optimization algorithms to assign complaints to the most suitable department or employee. </a:t>
            </a:r>
          </a:p>
          <a:p>
            <a:pPr marL="342900" lvl="0" indent="-342900">
              <a:buFont typeface="Arial" panose="020B0604020202020204" pitchFamily="34" charset="0"/>
              <a:buChar char="•"/>
            </a:pPr>
            <a:r>
              <a:rPr lang="en-IN" b="1" dirty="0"/>
              <a:t>Cloud Integration:</a:t>
            </a:r>
            <a:r>
              <a:rPr lang="en-IN" dirty="0"/>
              <a:t> Store complaint data securely on cloud platforms for scalable access. </a:t>
            </a:r>
          </a:p>
          <a:p>
            <a:pPr marL="342900" lvl="0" indent="-342900">
              <a:buFont typeface="Arial" panose="020B0604020202020204" pitchFamily="34" charset="0"/>
              <a:buChar char="•"/>
            </a:pPr>
            <a:r>
              <a:rPr lang="en-IN" b="1" dirty="0"/>
              <a:t>Multilingual Support:</a:t>
            </a:r>
            <a:r>
              <a:rPr lang="en-IN" dirty="0"/>
              <a:t> Allow customers to submit complaints in multiple Indian languages. </a:t>
            </a:r>
          </a:p>
          <a:p>
            <a:pPr marL="342900" lvl="0" indent="-342900">
              <a:buFont typeface="Arial" panose="020B0604020202020204" pitchFamily="34" charset="0"/>
              <a:buChar char="•"/>
            </a:pPr>
            <a:r>
              <a:rPr lang="en-IN" b="1" dirty="0"/>
              <a:t>Predictive Analysis:</a:t>
            </a:r>
            <a:r>
              <a:rPr lang="en-IN" dirty="0"/>
              <a:t> </a:t>
            </a:r>
            <a:r>
              <a:rPr lang="en-IN" dirty="0" err="1"/>
              <a:t>Analyze</a:t>
            </a:r>
            <a:r>
              <a:rPr lang="en-IN" dirty="0"/>
              <a:t> historical complaints to predict recurring problems and help organizations take preventive action.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1185</Words>
  <Application>Microsoft Office PowerPoint</Application>
  <PresentationFormat>Widescreen</PresentationFormat>
  <Paragraphs>107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Complaint Tracker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Dhanush Chandra</cp:lastModifiedBy>
  <cp:revision>21</cp:revision>
  <dcterms:created xsi:type="dcterms:W3CDTF">2024-08-29T05:25:00Z</dcterms:created>
  <dcterms:modified xsi:type="dcterms:W3CDTF">2026-08-30T17:17:06Z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